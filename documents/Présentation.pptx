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Neue Machina Ultra-Bold" charset="1" panose="00000900000000000000"/>
      <p:regular r:id="rId14"/>
    </p:embeddedFont>
    <p:embeddedFont>
      <p:font typeface="Canva Sans" charset="1" panose="020B0503030501040103"/>
      <p:regular r:id="rId15"/>
    </p:embeddedFont>
    <p:embeddedFont>
      <p:font typeface="Canva Sans Bold" charset="1" panose="020B0803030501040103"/>
      <p:regular r:id="rId16"/>
    </p:embeddedFont>
    <p:embeddedFont>
      <p:font typeface="Open Sans" charset="1" panose="020B0606030504020204"/>
      <p:regular r:id="rId17"/>
    </p:embeddedFont>
    <p:embeddedFont>
      <p:font typeface="Akzidenz-Grotesk" charset="1" panose="02000503030000020003"/>
      <p:regular r:id="rId18"/>
    </p:embeddedFont>
    <p:embeddedFont>
      <p:font typeface="Agrandir"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embeddings/oleObject1.bin" Type="http://schemas.openxmlformats.org/officeDocument/2006/relationships/oleObjec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gif" Type="http://schemas.openxmlformats.org/officeDocument/2006/relationships/image"/><Relationship Id="rId3" Target="../media/image12.gif" Type="http://schemas.openxmlformats.org/officeDocument/2006/relationships/image"/><Relationship Id="rId4" Target="../media/image13.gif" Type="http://schemas.openxmlformats.org/officeDocument/2006/relationships/image"/><Relationship Id="rId5" Target="../media/image14.gif"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9DFCF"/>
        </a:solidFill>
      </p:bgPr>
    </p:bg>
    <p:spTree>
      <p:nvGrpSpPr>
        <p:cNvPr id="1" name=""/>
        <p:cNvGrpSpPr/>
        <p:nvPr/>
      </p:nvGrpSpPr>
      <p:grpSpPr>
        <a:xfrm>
          <a:off x="0" y="0"/>
          <a:ext cx="0" cy="0"/>
          <a:chOff x="0" y="0"/>
          <a:chExt cx="0" cy="0"/>
        </a:xfrm>
      </p:grpSpPr>
      <p:sp>
        <p:nvSpPr>
          <p:cNvPr name="Freeform 2" id="2"/>
          <p:cNvSpPr/>
          <p:nvPr/>
        </p:nvSpPr>
        <p:spPr>
          <a:xfrm flipH="false" flipV="false" rot="-7160485">
            <a:off x="12762198" y="4130102"/>
            <a:ext cx="6728545" cy="6403217"/>
          </a:xfrm>
          <a:custGeom>
            <a:avLst/>
            <a:gdLst/>
            <a:ahLst/>
            <a:cxnLst/>
            <a:rect r="r" b="b" t="t" l="l"/>
            <a:pathLst>
              <a:path h="6403217" w="6728545">
                <a:moveTo>
                  <a:pt x="0" y="0"/>
                </a:moveTo>
                <a:lnTo>
                  <a:pt x="6728545" y="0"/>
                </a:lnTo>
                <a:lnTo>
                  <a:pt x="6728545" y="6403217"/>
                </a:lnTo>
                <a:lnTo>
                  <a:pt x="0" y="64032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888" y="0"/>
            <a:ext cx="5349535" cy="10287000"/>
            <a:chOff x="0" y="0"/>
            <a:chExt cx="1016958" cy="1955581"/>
          </a:xfrm>
        </p:grpSpPr>
        <p:sp>
          <p:nvSpPr>
            <p:cNvPr name="Freeform 4" id="4"/>
            <p:cNvSpPr/>
            <p:nvPr/>
          </p:nvSpPr>
          <p:spPr>
            <a:xfrm flipH="false" flipV="false" rot="0">
              <a:off x="0" y="0"/>
              <a:ext cx="1016958" cy="1955581"/>
            </a:xfrm>
            <a:custGeom>
              <a:avLst/>
              <a:gdLst/>
              <a:ahLst/>
              <a:cxnLst/>
              <a:rect r="r" b="b" t="t" l="l"/>
              <a:pathLst>
                <a:path h="1955581" w="1016958">
                  <a:moveTo>
                    <a:pt x="0" y="0"/>
                  </a:moveTo>
                  <a:lnTo>
                    <a:pt x="1016958" y="0"/>
                  </a:lnTo>
                  <a:lnTo>
                    <a:pt x="1016958" y="1955581"/>
                  </a:lnTo>
                  <a:lnTo>
                    <a:pt x="0" y="1955581"/>
                  </a:lnTo>
                  <a:close/>
                </a:path>
              </a:pathLst>
            </a:custGeom>
            <a:blipFill>
              <a:blip r:embed="rId4"/>
              <a:stretch>
                <a:fillRect l="-14179" t="0" r="-14179" b="0"/>
              </a:stretch>
            </a:blipFill>
          </p:spPr>
        </p:sp>
      </p:grpSp>
      <p:grpSp>
        <p:nvGrpSpPr>
          <p:cNvPr name="Group 5" id="5"/>
          <p:cNvGrpSpPr/>
          <p:nvPr/>
        </p:nvGrpSpPr>
        <p:grpSpPr>
          <a:xfrm rot="0">
            <a:off x="3137340" y="3608344"/>
            <a:ext cx="13658988" cy="2441234"/>
            <a:chOff x="0" y="0"/>
            <a:chExt cx="3176449" cy="567718"/>
          </a:xfrm>
        </p:grpSpPr>
        <p:sp>
          <p:nvSpPr>
            <p:cNvPr name="Freeform 6" id="6"/>
            <p:cNvSpPr/>
            <p:nvPr/>
          </p:nvSpPr>
          <p:spPr>
            <a:xfrm flipH="false" flipV="false" rot="0">
              <a:off x="0" y="0"/>
              <a:ext cx="3176449" cy="567718"/>
            </a:xfrm>
            <a:custGeom>
              <a:avLst/>
              <a:gdLst/>
              <a:ahLst/>
              <a:cxnLst/>
              <a:rect r="r" b="b" t="t" l="l"/>
              <a:pathLst>
                <a:path h="567718" w="3176449">
                  <a:moveTo>
                    <a:pt x="0" y="0"/>
                  </a:moveTo>
                  <a:lnTo>
                    <a:pt x="3176449" y="0"/>
                  </a:lnTo>
                  <a:lnTo>
                    <a:pt x="3176449" y="567718"/>
                  </a:lnTo>
                  <a:lnTo>
                    <a:pt x="0" y="567718"/>
                  </a:lnTo>
                  <a:close/>
                </a:path>
              </a:pathLst>
            </a:custGeom>
            <a:solidFill>
              <a:srgbClr val="FFFFFF"/>
            </a:solidFill>
            <a:ln w="28575" cap="sq">
              <a:solidFill>
                <a:srgbClr val="000000"/>
              </a:solidFill>
              <a:prstDash val="solid"/>
              <a:miter/>
            </a:ln>
          </p:spPr>
        </p:sp>
        <p:sp>
          <p:nvSpPr>
            <p:cNvPr name="TextBox 7" id="7"/>
            <p:cNvSpPr txBox="true"/>
            <p:nvPr/>
          </p:nvSpPr>
          <p:spPr>
            <a:xfrm>
              <a:off x="0" y="-38100"/>
              <a:ext cx="3176449" cy="605818"/>
            </a:xfrm>
            <a:prstGeom prst="rect">
              <a:avLst/>
            </a:prstGeom>
          </p:spPr>
          <p:txBody>
            <a:bodyPr anchor="ctr" rtlCol="false" tIns="57533" lIns="57533" bIns="57533" rIns="57533"/>
            <a:lstStyle/>
            <a:p>
              <a:pPr algn="ctr">
                <a:lnSpc>
                  <a:spcPts val="2660"/>
                </a:lnSpc>
                <a:spcBef>
                  <a:spcPct val="0"/>
                </a:spcBef>
              </a:pPr>
            </a:p>
          </p:txBody>
        </p:sp>
      </p:grpSp>
      <p:sp>
        <p:nvSpPr>
          <p:cNvPr name="Freeform 8" id="8"/>
          <p:cNvSpPr/>
          <p:nvPr/>
        </p:nvSpPr>
        <p:spPr>
          <a:xfrm flipH="false" flipV="false" rot="3206933">
            <a:off x="-4984565" y="1515579"/>
            <a:ext cx="11239071" cy="9067998"/>
          </a:xfrm>
          <a:custGeom>
            <a:avLst/>
            <a:gdLst/>
            <a:ahLst/>
            <a:cxnLst/>
            <a:rect r="r" b="b" t="t" l="l"/>
            <a:pathLst>
              <a:path h="9067998" w="11239071">
                <a:moveTo>
                  <a:pt x="0" y="0"/>
                </a:moveTo>
                <a:lnTo>
                  <a:pt x="11239072" y="0"/>
                </a:lnTo>
                <a:lnTo>
                  <a:pt x="11239072" y="9067998"/>
                </a:lnTo>
                <a:lnTo>
                  <a:pt x="0" y="90679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3295773" y="4206287"/>
            <a:ext cx="13294274" cy="1420179"/>
          </a:xfrm>
          <a:prstGeom prst="rect">
            <a:avLst/>
          </a:prstGeom>
        </p:spPr>
        <p:txBody>
          <a:bodyPr anchor="t" rtlCol="false" tIns="0" lIns="0" bIns="0" rIns="0">
            <a:spAutoFit/>
          </a:bodyPr>
          <a:lstStyle/>
          <a:p>
            <a:pPr algn="ctr">
              <a:lnSpc>
                <a:spcPts val="5498"/>
              </a:lnSpc>
            </a:pPr>
            <a:r>
              <a:rPr lang="en-US" b="true" sz="5338">
                <a:solidFill>
                  <a:srgbClr val="000000"/>
                </a:solidFill>
                <a:latin typeface="Neue Machina Ultra-Bold"/>
                <a:ea typeface="Neue Machina Ultra-Bold"/>
                <a:cs typeface="Neue Machina Ultra-Bold"/>
                <a:sym typeface="Neue Machina Ultra-Bold"/>
              </a:rPr>
              <a:t>CONCEVEZ ET DEPLOYEZ UN SYSTÊME RAG</a:t>
            </a:r>
          </a:p>
        </p:txBody>
      </p:sp>
      <p:sp>
        <p:nvSpPr>
          <p:cNvPr name="TextBox 10" id="1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9DFCF"/>
        </a:solidFill>
      </p:bgPr>
    </p:bg>
    <p:spTree>
      <p:nvGrpSpPr>
        <p:cNvPr id="1" name=""/>
        <p:cNvGrpSpPr/>
        <p:nvPr/>
      </p:nvGrpSpPr>
      <p:grpSpPr>
        <a:xfrm>
          <a:off x="0" y="0"/>
          <a:ext cx="0" cy="0"/>
          <a:chOff x="0" y="0"/>
          <a:chExt cx="0" cy="0"/>
        </a:xfrm>
      </p:grpSpPr>
      <p:grpSp>
        <p:nvGrpSpPr>
          <p:cNvPr name="Group 2" id="2"/>
          <p:cNvGrpSpPr/>
          <p:nvPr/>
        </p:nvGrpSpPr>
        <p:grpSpPr>
          <a:xfrm rot="0">
            <a:off x="1628253" y="545788"/>
            <a:ext cx="14496158" cy="9195423"/>
            <a:chOff x="0" y="0"/>
            <a:chExt cx="3817918" cy="2421840"/>
          </a:xfrm>
        </p:grpSpPr>
        <p:sp>
          <p:nvSpPr>
            <p:cNvPr name="Freeform 3" id="3"/>
            <p:cNvSpPr/>
            <p:nvPr/>
          </p:nvSpPr>
          <p:spPr>
            <a:xfrm flipH="false" flipV="false" rot="0">
              <a:off x="0" y="0"/>
              <a:ext cx="3817918" cy="2421840"/>
            </a:xfrm>
            <a:custGeom>
              <a:avLst/>
              <a:gdLst/>
              <a:ahLst/>
              <a:cxnLst/>
              <a:rect r="r" b="b" t="t" l="l"/>
              <a:pathLst>
                <a:path h="2421840" w="3817918">
                  <a:moveTo>
                    <a:pt x="0" y="0"/>
                  </a:moveTo>
                  <a:lnTo>
                    <a:pt x="3817918" y="0"/>
                  </a:lnTo>
                  <a:lnTo>
                    <a:pt x="3817918" y="2421840"/>
                  </a:lnTo>
                  <a:lnTo>
                    <a:pt x="0" y="2421840"/>
                  </a:lnTo>
                  <a:close/>
                </a:path>
              </a:pathLst>
            </a:custGeom>
            <a:solidFill>
              <a:srgbClr val="FFFFFF"/>
            </a:solidFill>
            <a:ln w="9525" cap="sq">
              <a:solidFill>
                <a:srgbClr val="000000"/>
              </a:solidFill>
              <a:prstDash val="solid"/>
              <a:miter/>
            </a:ln>
          </p:spPr>
        </p:sp>
        <p:sp>
          <p:nvSpPr>
            <p:cNvPr name="TextBox 4" id="4"/>
            <p:cNvSpPr txBox="true"/>
            <p:nvPr/>
          </p:nvSpPr>
          <p:spPr>
            <a:xfrm>
              <a:off x="0" y="-47625"/>
              <a:ext cx="3817918" cy="2469465"/>
            </a:xfrm>
            <a:prstGeom prst="rect">
              <a:avLst/>
            </a:prstGeom>
          </p:spPr>
          <p:txBody>
            <a:bodyPr anchor="ctr" rtlCol="false" tIns="50800" lIns="50800" bIns="50800" rIns="50800"/>
            <a:lstStyle/>
            <a:p>
              <a:pPr algn="ctr">
                <a:lnSpc>
                  <a:spcPts val="3499"/>
                </a:lnSpc>
              </a:pPr>
            </a:p>
          </p:txBody>
        </p:sp>
      </p:grpSp>
      <p:sp>
        <p:nvSpPr>
          <p:cNvPr name="Freeform 5" id="5"/>
          <p:cNvSpPr/>
          <p:nvPr/>
        </p:nvSpPr>
        <p:spPr>
          <a:xfrm flipH="false" flipV="false" rot="-1934702">
            <a:off x="-725252" y="-250483"/>
            <a:ext cx="5211797" cy="3621355"/>
          </a:xfrm>
          <a:custGeom>
            <a:avLst/>
            <a:gdLst/>
            <a:ahLst/>
            <a:cxnLst/>
            <a:rect r="r" b="b" t="t" l="l"/>
            <a:pathLst>
              <a:path h="3621355" w="5211797">
                <a:moveTo>
                  <a:pt x="0" y="0"/>
                </a:moveTo>
                <a:lnTo>
                  <a:pt x="5211798" y="0"/>
                </a:lnTo>
                <a:lnTo>
                  <a:pt x="5211798" y="3621356"/>
                </a:lnTo>
                <a:lnTo>
                  <a:pt x="0" y="36213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259300" y="9220200"/>
            <a:ext cx="152400" cy="190500"/>
          </a:xfrm>
          <a:prstGeom prst="rect">
            <a:avLst/>
          </a:prstGeom>
        </p:spPr>
        <p:txBody>
          <a:bodyPr anchor="t" rtlCol="false" tIns="0" lIns="0" bIns="0" rIns="0" wrap="none">
            <a:spAutoFit/>
          </a:bodyPr>
          <a:lstStyle/>
          <a:p>
            <a:pPr algn="ctr">
              <a:lnSpc>
                <a:spcPts val="2940"/>
              </a:lnSpc>
              <a:spcBef>
                <a:spcPct val="0"/>
              </a:spcBef>
            </a:pPr>
            <a:r>
              <a:rPr lang="en-US" b="true" sz="2100">
                <a:solidFill>
                  <a:srgbClr val="000000"/>
                </a:solidFill>
                <a:latin typeface="Canva Sans Bold"/>
                <a:ea typeface="Canva Sans Bold"/>
                <a:cs typeface="Canva Sans Bold"/>
                <a:sym typeface="Canva Sans Bold"/>
              </a:rPr>
              <a:t>2</a:t>
            </a:r>
          </a:p>
        </p:txBody>
      </p:sp>
      <p:sp>
        <p:nvSpPr>
          <p:cNvPr name="Freeform 7" id="7"/>
          <p:cNvSpPr/>
          <p:nvPr/>
        </p:nvSpPr>
        <p:spPr>
          <a:xfrm flipH="false" flipV="false" rot="8686839">
            <a:off x="14105523" y="6796489"/>
            <a:ext cx="5211797" cy="3621355"/>
          </a:xfrm>
          <a:custGeom>
            <a:avLst/>
            <a:gdLst/>
            <a:ahLst/>
            <a:cxnLst/>
            <a:rect r="r" b="b" t="t" l="l"/>
            <a:pathLst>
              <a:path h="3621355" w="5211797">
                <a:moveTo>
                  <a:pt x="0" y="0"/>
                </a:moveTo>
                <a:lnTo>
                  <a:pt x="5211797" y="0"/>
                </a:lnTo>
                <a:lnTo>
                  <a:pt x="5211797" y="3621355"/>
                </a:lnTo>
                <a:lnTo>
                  <a:pt x="0" y="36213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4455939" y="7079201"/>
            <a:ext cx="594781" cy="574322"/>
            <a:chOff x="0" y="0"/>
            <a:chExt cx="793041" cy="765763"/>
          </a:xfrm>
        </p:grpSpPr>
        <p:grpSp>
          <p:nvGrpSpPr>
            <p:cNvPr name="Group 9" id="9"/>
            <p:cNvGrpSpPr/>
            <p:nvPr/>
          </p:nvGrpSpPr>
          <p:grpSpPr>
            <a:xfrm rot="0">
              <a:off x="0" y="0"/>
              <a:ext cx="793041" cy="765763"/>
              <a:chOff x="0" y="0"/>
              <a:chExt cx="900098" cy="869138"/>
            </a:xfrm>
          </p:grpSpPr>
          <p:sp>
            <p:nvSpPr>
              <p:cNvPr name="Freeform 10" id="10"/>
              <p:cNvSpPr/>
              <p:nvPr/>
            </p:nvSpPr>
            <p:spPr>
              <a:xfrm flipH="false" flipV="false" rot="0">
                <a:off x="0" y="0"/>
                <a:ext cx="900098" cy="869138"/>
              </a:xfrm>
              <a:custGeom>
                <a:avLst/>
                <a:gdLst/>
                <a:ahLst/>
                <a:cxnLst/>
                <a:rect r="r" b="b" t="t" l="l"/>
                <a:pathLst>
                  <a:path h="869138" w="900098">
                    <a:moveTo>
                      <a:pt x="450049" y="0"/>
                    </a:moveTo>
                    <a:cubicBezTo>
                      <a:pt x="201494" y="0"/>
                      <a:pt x="0" y="194563"/>
                      <a:pt x="0" y="434569"/>
                    </a:cubicBezTo>
                    <a:cubicBezTo>
                      <a:pt x="0" y="674575"/>
                      <a:pt x="201494" y="869138"/>
                      <a:pt x="450049" y="869138"/>
                    </a:cubicBezTo>
                    <a:cubicBezTo>
                      <a:pt x="698604" y="869138"/>
                      <a:pt x="900098" y="674575"/>
                      <a:pt x="900098" y="434569"/>
                    </a:cubicBezTo>
                    <a:cubicBezTo>
                      <a:pt x="900098" y="194563"/>
                      <a:pt x="698604" y="0"/>
                      <a:pt x="450049" y="0"/>
                    </a:cubicBezTo>
                    <a:close/>
                  </a:path>
                </a:pathLst>
              </a:custGeom>
              <a:solidFill>
                <a:srgbClr val="000000"/>
              </a:solidFill>
            </p:spPr>
          </p:sp>
          <p:sp>
            <p:nvSpPr>
              <p:cNvPr name="TextBox 11" id="11"/>
              <p:cNvSpPr txBox="true"/>
              <p:nvPr/>
            </p:nvSpPr>
            <p:spPr>
              <a:xfrm>
                <a:off x="84384" y="-13768"/>
                <a:ext cx="731330" cy="801424"/>
              </a:xfrm>
              <a:prstGeom prst="rect">
                <a:avLst/>
              </a:prstGeom>
            </p:spPr>
            <p:txBody>
              <a:bodyPr anchor="ctr" rtlCol="false" tIns="50800" lIns="50800" bIns="50800" rIns="50800"/>
              <a:lstStyle/>
              <a:p>
                <a:pPr algn="ctr">
                  <a:lnSpc>
                    <a:spcPts val="3219"/>
                  </a:lnSpc>
                </a:pPr>
              </a:p>
            </p:txBody>
          </p:sp>
        </p:grpSp>
        <p:sp>
          <p:nvSpPr>
            <p:cNvPr name="TextBox 12" id="12"/>
            <p:cNvSpPr txBox="true"/>
            <p:nvPr/>
          </p:nvSpPr>
          <p:spPr>
            <a:xfrm rot="0">
              <a:off x="197839" y="-54"/>
              <a:ext cx="397364" cy="589920"/>
            </a:xfrm>
            <a:prstGeom prst="rect">
              <a:avLst/>
            </a:prstGeom>
          </p:spPr>
          <p:txBody>
            <a:bodyPr anchor="t" rtlCol="false" tIns="0" lIns="0" bIns="0" rIns="0">
              <a:spAutoFit/>
            </a:bodyPr>
            <a:lstStyle/>
            <a:p>
              <a:pPr algn="ctr">
                <a:lnSpc>
                  <a:spcPts val="3701"/>
                </a:lnSpc>
              </a:pPr>
              <a:r>
                <a:rPr lang="en-US" sz="2643">
                  <a:solidFill>
                    <a:srgbClr val="FFFFFF"/>
                  </a:solidFill>
                  <a:latin typeface="Open Sans"/>
                  <a:ea typeface="Open Sans"/>
                  <a:cs typeface="Open Sans"/>
                  <a:sym typeface="Open Sans"/>
                </a:rPr>
                <a:t>IV</a:t>
              </a:r>
            </a:p>
          </p:txBody>
        </p:sp>
      </p:grpSp>
      <p:sp>
        <p:nvSpPr>
          <p:cNvPr name="TextBox 13" id="13"/>
          <p:cNvSpPr txBox="true"/>
          <p:nvPr/>
        </p:nvSpPr>
        <p:spPr>
          <a:xfrm rot="0">
            <a:off x="5466538" y="1197667"/>
            <a:ext cx="6819588" cy="512445"/>
          </a:xfrm>
          <a:prstGeom prst="rect">
            <a:avLst/>
          </a:prstGeom>
        </p:spPr>
        <p:txBody>
          <a:bodyPr anchor="t" rtlCol="false" tIns="0" lIns="0" bIns="0" rIns="0">
            <a:spAutoFit/>
          </a:bodyPr>
          <a:lstStyle/>
          <a:p>
            <a:pPr algn="ctr">
              <a:lnSpc>
                <a:spcPts val="3990"/>
              </a:lnSpc>
            </a:pPr>
            <a:r>
              <a:rPr lang="en-US" b="true" sz="3500">
                <a:solidFill>
                  <a:srgbClr val="000000"/>
                </a:solidFill>
                <a:latin typeface="Neue Machina Ultra-Bold"/>
                <a:ea typeface="Neue Machina Ultra-Bold"/>
                <a:cs typeface="Neue Machina Ultra-Bold"/>
                <a:sym typeface="Neue Machina Ultra-Bold"/>
              </a:rPr>
              <a:t>ÉTAPES DE PRÉSENTATION</a:t>
            </a:r>
          </a:p>
        </p:txBody>
      </p:sp>
      <p:sp>
        <p:nvSpPr>
          <p:cNvPr name="TextBox 14" id="14"/>
          <p:cNvSpPr txBox="true"/>
          <p:nvPr/>
        </p:nvSpPr>
        <p:spPr>
          <a:xfrm rot="0">
            <a:off x="5298548" y="3517100"/>
            <a:ext cx="8745616" cy="481331"/>
          </a:xfrm>
          <a:prstGeom prst="rect">
            <a:avLst/>
          </a:prstGeom>
        </p:spPr>
        <p:txBody>
          <a:bodyPr anchor="t" rtlCol="false" tIns="0" lIns="0" bIns="0" rIns="0">
            <a:spAutoFit/>
          </a:bodyPr>
          <a:lstStyle/>
          <a:p>
            <a:pPr algn="l">
              <a:lnSpc>
                <a:spcPts val="3919"/>
              </a:lnSpc>
            </a:pPr>
            <a:r>
              <a:rPr lang="en-US" sz="2799" b="true">
                <a:solidFill>
                  <a:srgbClr val="000000"/>
                </a:solidFill>
                <a:latin typeface="Canva Sans Bold"/>
                <a:ea typeface="Canva Sans Bold"/>
                <a:cs typeface="Canva Sans Bold"/>
                <a:sym typeface="Canva Sans Bold"/>
              </a:rPr>
              <a:t>PRÉSENTATION DU SYSTÈME RAG DÉVELOPPÉ</a:t>
            </a:r>
          </a:p>
        </p:txBody>
      </p:sp>
      <p:sp>
        <p:nvSpPr>
          <p:cNvPr name="TextBox 15" id="15"/>
          <p:cNvSpPr txBox="true"/>
          <p:nvPr/>
        </p:nvSpPr>
        <p:spPr>
          <a:xfrm rot="0">
            <a:off x="5298548" y="4710387"/>
            <a:ext cx="7581818" cy="481331"/>
          </a:xfrm>
          <a:prstGeom prst="rect">
            <a:avLst/>
          </a:prstGeom>
        </p:spPr>
        <p:txBody>
          <a:bodyPr anchor="t" rtlCol="false" tIns="0" lIns="0" bIns="0" rIns="0">
            <a:spAutoFit/>
          </a:bodyPr>
          <a:lstStyle/>
          <a:p>
            <a:pPr algn="l">
              <a:lnSpc>
                <a:spcPts val="3919"/>
              </a:lnSpc>
            </a:pPr>
            <a:r>
              <a:rPr lang="en-US" sz="2799" b="true">
                <a:solidFill>
                  <a:srgbClr val="000000"/>
                </a:solidFill>
                <a:latin typeface="Canva Sans Bold"/>
                <a:ea typeface="Canva Sans Bold"/>
                <a:cs typeface="Canva Sans Bold"/>
                <a:sym typeface="Canva Sans Bold"/>
              </a:rPr>
              <a:t>DÉMONSTRATION DE L’API EN DIRECT</a:t>
            </a:r>
          </a:p>
        </p:txBody>
      </p:sp>
      <p:grpSp>
        <p:nvGrpSpPr>
          <p:cNvPr name="Group 16" id="16"/>
          <p:cNvGrpSpPr/>
          <p:nvPr/>
        </p:nvGrpSpPr>
        <p:grpSpPr>
          <a:xfrm rot="0">
            <a:off x="4455939" y="2315902"/>
            <a:ext cx="8743649" cy="492398"/>
            <a:chOff x="0" y="0"/>
            <a:chExt cx="11658198" cy="656530"/>
          </a:xfrm>
        </p:grpSpPr>
        <p:sp>
          <p:nvSpPr>
            <p:cNvPr name="TextBox 17" id="17"/>
            <p:cNvSpPr txBox="true"/>
            <p:nvPr/>
          </p:nvSpPr>
          <p:spPr>
            <a:xfrm rot="0">
              <a:off x="0" y="-57150"/>
              <a:ext cx="9729230" cy="698078"/>
            </a:xfrm>
            <a:prstGeom prst="rect">
              <a:avLst/>
            </a:prstGeom>
          </p:spPr>
          <p:txBody>
            <a:bodyPr anchor="t" rtlCol="false" tIns="0" lIns="0" bIns="0" rIns="0">
              <a:spAutoFit/>
            </a:bodyPr>
            <a:lstStyle/>
            <a:p>
              <a:pPr algn="l">
                <a:lnSpc>
                  <a:spcPts val="4479"/>
                </a:lnSpc>
              </a:pPr>
              <a:r>
                <a:rPr lang="en-US" sz="3199" b="true">
                  <a:solidFill>
                    <a:srgbClr val="000000"/>
                  </a:solidFill>
                  <a:latin typeface="Canva Sans Bold"/>
                  <a:ea typeface="Canva Sans Bold"/>
                  <a:cs typeface="Canva Sans Bold"/>
                  <a:sym typeface="Canva Sans Bold"/>
                </a:rPr>
                <a:t>INTRODUCTION : </a:t>
              </a:r>
            </a:p>
          </p:txBody>
        </p:sp>
        <p:sp>
          <p:nvSpPr>
            <p:cNvPr name="TextBox 18" id="18"/>
            <p:cNvSpPr txBox="true"/>
            <p:nvPr/>
          </p:nvSpPr>
          <p:spPr>
            <a:xfrm rot="0">
              <a:off x="3938104" y="-41548"/>
              <a:ext cx="7720094" cy="698078"/>
            </a:xfrm>
            <a:prstGeom prst="rect">
              <a:avLst/>
            </a:prstGeom>
          </p:spPr>
          <p:txBody>
            <a:bodyPr anchor="t" rtlCol="false" tIns="0" lIns="0" bIns="0" rIns="0">
              <a:spAutoFit/>
            </a:bodyPr>
            <a:lstStyle/>
            <a:p>
              <a:pPr algn="l">
                <a:lnSpc>
                  <a:spcPts val="4479"/>
                </a:lnSpc>
              </a:pPr>
              <a:r>
                <a:rPr lang="en-US" sz="3199">
                  <a:solidFill>
                    <a:srgbClr val="000000"/>
                  </a:solidFill>
                  <a:latin typeface="Canva Sans"/>
                  <a:ea typeface="Canva Sans"/>
                  <a:cs typeface="Canva Sans"/>
                  <a:sym typeface="Canva Sans"/>
                </a:rPr>
                <a:t>      Contexte de la mission</a:t>
              </a:r>
            </a:p>
          </p:txBody>
        </p:sp>
      </p:grpSp>
      <p:sp>
        <p:nvSpPr>
          <p:cNvPr name="TextBox 19" id="19"/>
          <p:cNvSpPr txBox="true"/>
          <p:nvPr/>
        </p:nvSpPr>
        <p:spPr>
          <a:xfrm rot="0">
            <a:off x="5298548" y="5934668"/>
            <a:ext cx="10374492" cy="481331"/>
          </a:xfrm>
          <a:prstGeom prst="rect">
            <a:avLst/>
          </a:prstGeom>
        </p:spPr>
        <p:txBody>
          <a:bodyPr anchor="t" rtlCol="false" tIns="0" lIns="0" bIns="0" rIns="0">
            <a:spAutoFit/>
          </a:bodyPr>
          <a:lstStyle/>
          <a:p>
            <a:pPr algn="l">
              <a:lnSpc>
                <a:spcPts val="3919"/>
              </a:lnSpc>
            </a:pPr>
            <a:r>
              <a:rPr lang="en-US" sz="2799" b="true">
                <a:solidFill>
                  <a:srgbClr val="000000"/>
                </a:solidFill>
                <a:latin typeface="Canva Sans Bold"/>
                <a:ea typeface="Canva Sans Bold"/>
                <a:cs typeface="Canva Sans Bold"/>
                <a:sym typeface="Canva Sans Bold"/>
              </a:rPr>
              <a:t>PRÉSENTATION DU RAPPORT TECHNIQUE ET RÉSULTATS</a:t>
            </a:r>
          </a:p>
        </p:txBody>
      </p:sp>
      <p:sp>
        <p:nvSpPr>
          <p:cNvPr name="TextBox 20" id="20"/>
          <p:cNvSpPr txBox="true"/>
          <p:nvPr/>
        </p:nvSpPr>
        <p:spPr>
          <a:xfrm rot="0">
            <a:off x="5249661" y="7115043"/>
            <a:ext cx="8327011" cy="481331"/>
          </a:xfrm>
          <a:prstGeom prst="rect">
            <a:avLst/>
          </a:prstGeom>
        </p:spPr>
        <p:txBody>
          <a:bodyPr anchor="t" rtlCol="false" tIns="0" lIns="0" bIns="0" rIns="0">
            <a:spAutoFit/>
          </a:bodyPr>
          <a:lstStyle/>
          <a:p>
            <a:pPr algn="l">
              <a:lnSpc>
                <a:spcPts val="3919"/>
              </a:lnSpc>
            </a:pPr>
            <a:r>
              <a:rPr lang="en-US" sz="2799" b="true">
                <a:solidFill>
                  <a:srgbClr val="000000"/>
                </a:solidFill>
                <a:latin typeface="Canva Sans Bold"/>
                <a:ea typeface="Canva Sans Bold"/>
                <a:cs typeface="Canva Sans Bold"/>
                <a:sym typeface="Canva Sans Bold"/>
              </a:rPr>
              <a:t>PARCOURS DE LA STRUCTURE DU DÉPOT GIT</a:t>
            </a:r>
          </a:p>
        </p:txBody>
      </p:sp>
      <p:grpSp>
        <p:nvGrpSpPr>
          <p:cNvPr name="Group 21" id="21"/>
          <p:cNvGrpSpPr/>
          <p:nvPr/>
        </p:nvGrpSpPr>
        <p:grpSpPr>
          <a:xfrm rot="0">
            <a:off x="4455939" y="5885754"/>
            <a:ext cx="594781" cy="574322"/>
            <a:chOff x="0" y="0"/>
            <a:chExt cx="793041" cy="765763"/>
          </a:xfrm>
        </p:grpSpPr>
        <p:grpSp>
          <p:nvGrpSpPr>
            <p:cNvPr name="Group 22" id="22"/>
            <p:cNvGrpSpPr/>
            <p:nvPr/>
          </p:nvGrpSpPr>
          <p:grpSpPr>
            <a:xfrm rot="0">
              <a:off x="0" y="0"/>
              <a:ext cx="793041" cy="765763"/>
              <a:chOff x="0" y="0"/>
              <a:chExt cx="900098" cy="869138"/>
            </a:xfrm>
          </p:grpSpPr>
          <p:sp>
            <p:nvSpPr>
              <p:cNvPr name="Freeform 23" id="23"/>
              <p:cNvSpPr/>
              <p:nvPr/>
            </p:nvSpPr>
            <p:spPr>
              <a:xfrm flipH="false" flipV="false" rot="0">
                <a:off x="0" y="0"/>
                <a:ext cx="900098" cy="869138"/>
              </a:xfrm>
              <a:custGeom>
                <a:avLst/>
                <a:gdLst/>
                <a:ahLst/>
                <a:cxnLst/>
                <a:rect r="r" b="b" t="t" l="l"/>
                <a:pathLst>
                  <a:path h="869138" w="900098">
                    <a:moveTo>
                      <a:pt x="450049" y="0"/>
                    </a:moveTo>
                    <a:cubicBezTo>
                      <a:pt x="201494" y="0"/>
                      <a:pt x="0" y="194563"/>
                      <a:pt x="0" y="434569"/>
                    </a:cubicBezTo>
                    <a:cubicBezTo>
                      <a:pt x="0" y="674575"/>
                      <a:pt x="201494" y="869138"/>
                      <a:pt x="450049" y="869138"/>
                    </a:cubicBezTo>
                    <a:cubicBezTo>
                      <a:pt x="698604" y="869138"/>
                      <a:pt x="900098" y="674575"/>
                      <a:pt x="900098" y="434569"/>
                    </a:cubicBezTo>
                    <a:cubicBezTo>
                      <a:pt x="900098" y="194563"/>
                      <a:pt x="698604" y="0"/>
                      <a:pt x="450049" y="0"/>
                    </a:cubicBezTo>
                    <a:close/>
                  </a:path>
                </a:pathLst>
              </a:custGeom>
              <a:solidFill>
                <a:srgbClr val="000000"/>
              </a:solidFill>
            </p:spPr>
          </p:sp>
          <p:sp>
            <p:nvSpPr>
              <p:cNvPr name="TextBox 24" id="24"/>
              <p:cNvSpPr txBox="true"/>
              <p:nvPr/>
            </p:nvSpPr>
            <p:spPr>
              <a:xfrm>
                <a:off x="84384" y="-13768"/>
                <a:ext cx="731330" cy="801424"/>
              </a:xfrm>
              <a:prstGeom prst="rect">
                <a:avLst/>
              </a:prstGeom>
            </p:spPr>
            <p:txBody>
              <a:bodyPr anchor="ctr" rtlCol="false" tIns="50800" lIns="50800" bIns="50800" rIns="50800"/>
              <a:lstStyle/>
              <a:p>
                <a:pPr algn="ctr">
                  <a:lnSpc>
                    <a:spcPts val="3219"/>
                  </a:lnSpc>
                </a:pPr>
              </a:p>
            </p:txBody>
          </p:sp>
        </p:grpSp>
        <p:sp>
          <p:nvSpPr>
            <p:cNvPr name="TextBox 25" id="25"/>
            <p:cNvSpPr txBox="true"/>
            <p:nvPr/>
          </p:nvSpPr>
          <p:spPr>
            <a:xfrm rot="0">
              <a:off x="197839" y="-54"/>
              <a:ext cx="397364" cy="589920"/>
            </a:xfrm>
            <a:prstGeom prst="rect">
              <a:avLst/>
            </a:prstGeom>
          </p:spPr>
          <p:txBody>
            <a:bodyPr anchor="t" rtlCol="false" tIns="0" lIns="0" bIns="0" rIns="0">
              <a:spAutoFit/>
            </a:bodyPr>
            <a:lstStyle/>
            <a:p>
              <a:pPr algn="ctr">
                <a:lnSpc>
                  <a:spcPts val="3701"/>
                </a:lnSpc>
              </a:pPr>
              <a:r>
                <a:rPr lang="en-US" sz="2643">
                  <a:solidFill>
                    <a:srgbClr val="FFFFFF"/>
                  </a:solidFill>
                  <a:latin typeface="Open Sans"/>
                  <a:ea typeface="Open Sans"/>
                  <a:cs typeface="Open Sans"/>
                  <a:sym typeface="Open Sans"/>
                </a:rPr>
                <a:t>III</a:t>
              </a:r>
            </a:p>
          </p:txBody>
        </p:sp>
      </p:grpSp>
      <p:grpSp>
        <p:nvGrpSpPr>
          <p:cNvPr name="Group 26" id="26"/>
          <p:cNvGrpSpPr/>
          <p:nvPr/>
        </p:nvGrpSpPr>
        <p:grpSpPr>
          <a:xfrm rot="0">
            <a:off x="4455939" y="4692627"/>
            <a:ext cx="594781" cy="574322"/>
            <a:chOff x="0" y="0"/>
            <a:chExt cx="793041" cy="765763"/>
          </a:xfrm>
        </p:grpSpPr>
        <p:grpSp>
          <p:nvGrpSpPr>
            <p:cNvPr name="Group 27" id="27"/>
            <p:cNvGrpSpPr/>
            <p:nvPr/>
          </p:nvGrpSpPr>
          <p:grpSpPr>
            <a:xfrm rot="0">
              <a:off x="0" y="0"/>
              <a:ext cx="793041" cy="765763"/>
              <a:chOff x="0" y="0"/>
              <a:chExt cx="900098" cy="869138"/>
            </a:xfrm>
          </p:grpSpPr>
          <p:sp>
            <p:nvSpPr>
              <p:cNvPr name="Freeform 28" id="28"/>
              <p:cNvSpPr/>
              <p:nvPr/>
            </p:nvSpPr>
            <p:spPr>
              <a:xfrm flipH="false" flipV="false" rot="0">
                <a:off x="0" y="0"/>
                <a:ext cx="900098" cy="869138"/>
              </a:xfrm>
              <a:custGeom>
                <a:avLst/>
                <a:gdLst/>
                <a:ahLst/>
                <a:cxnLst/>
                <a:rect r="r" b="b" t="t" l="l"/>
                <a:pathLst>
                  <a:path h="869138" w="900098">
                    <a:moveTo>
                      <a:pt x="450049" y="0"/>
                    </a:moveTo>
                    <a:cubicBezTo>
                      <a:pt x="201494" y="0"/>
                      <a:pt x="0" y="194563"/>
                      <a:pt x="0" y="434569"/>
                    </a:cubicBezTo>
                    <a:cubicBezTo>
                      <a:pt x="0" y="674575"/>
                      <a:pt x="201494" y="869138"/>
                      <a:pt x="450049" y="869138"/>
                    </a:cubicBezTo>
                    <a:cubicBezTo>
                      <a:pt x="698604" y="869138"/>
                      <a:pt x="900098" y="674575"/>
                      <a:pt x="900098" y="434569"/>
                    </a:cubicBezTo>
                    <a:cubicBezTo>
                      <a:pt x="900098" y="194563"/>
                      <a:pt x="698604" y="0"/>
                      <a:pt x="450049" y="0"/>
                    </a:cubicBezTo>
                    <a:close/>
                  </a:path>
                </a:pathLst>
              </a:custGeom>
              <a:solidFill>
                <a:srgbClr val="000000"/>
              </a:solidFill>
            </p:spPr>
          </p:sp>
          <p:sp>
            <p:nvSpPr>
              <p:cNvPr name="TextBox 29" id="29"/>
              <p:cNvSpPr txBox="true"/>
              <p:nvPr/>
            </p:nvSpPr>
            <p:spPr>
              <a:xfrm>
                <a:off x="84384" y="-13768"/>
                <a:ext cx="731330" cy="801424"/>
              </a:xfrm>
              <a:prstGeom prst="rect">
                <a:avLst/>
              </a:prstGeom>
            </p:spPr>
            <p:txBody>
              <a:bodyPr anchor="ctr" rtlCol="false" tIns="50800" lIns="50800" bIns="50800" rIns="50800"/>
              <a:lstStyle/>
              <a:p>
                <a:pPr algn="ctr">
                  <a:lnSpc>
                    <a:spcPts val="3219"/>
                  </a:lnSpc>
                </a:pPr>
              </a:p>
            </p:txBody>
          </p:sp>
        </p:grpSp>
        <p:sp>
          <p:nvSpPr>
            <p:cNvPr name="TextBox 30" id="30"/>
            <p:cNvSpPr txBox="true"/>
            <p:nvPr/>
          </p:nvSpPr>
          <p:spPr>
            <a:xfrm rot="0">
              <a:off x="197839" y="-54"/>
              <a:ext cx="397364" cy="589920"/>
            </a:xfrm>
            <a:prstGeom prst="rect">
              <a:avLst/>
            </a:prstGeom>
          </p:spPr>
          <p:txBody>
            <a:bodyPr anchor="t" rtlCol="false" tIns="0" lIns="0" bIns="0" rIns="0">
              <a:spAutoFit/>
            </a:bodyPr>
            <a:lstStyle/>
            <a:p>
              <a:pPr algn="ctr">
                <a:lnSpc>
                  <a:spcPts val="3701"/>
                </a:lnSpc>
              </a:pPr>
              <a:r>
                <a:rPr lang="en-US" sz="2643">
                  <a:solidFill>
                    <a:srgbClr val="FFFFFF"/>
                  </a:solidFill>
                  <a:latin typeface="Open Sans"/>
                  <a:ea typeface="Open Sans"/>
                  <a:cs typeface="Open Sans"/>
                  <a:sym typeface="Open Sans"/>
                </a:rPr>
                <a:t>II</a:t>
              </a:r>
            </a:p>
          </p:txBody>
        </p:sp>
      </p:grpSp>
      <p:grpSp>
        <p:nvGrpSpPr>
          <p:cNvPr name="Group 31" id="31"/>
          <p:cNvGrpSpPr/>
          <p:nvPr/>
        </p:nvGrpSpPr>
        <p:grpSpPr>
          <a:xfrm rot="0">
            <a:off x="4455939" y="3499179"/>
            <a:ext cx="594781" cy="574322"/>
            <a:chOff x="0" y="0"/>
            <a:chExt cx="793041" cy="765763"/>
          </a:xfrm>
        </p:grpSpPr>
        <p:grpSp>
          <p:nvGrpSpPr>
            <p:cNvPr name="Group 32" id="32"/>
            <p:cNvGrpSpPr/>
            <p:nvPr/>
          </p:nvGrpSpPr>
          <p:grpSpPr>
            <a:xfrm rot="0">
              <a:off x="0" y="0"/>
              <a:ext cx="793041" cy="765763"/>
              <a:chOff x="0" y="0"/>
              <a:chExt cx="900098" cy="869138"/>
            </a:xfrm>
          </p:grpSpPr>
          <p:sp>
            <p:nvSpPr>
              <p:cNvPr name="Freeform 33" id="33"/>
              <p:cNvSpPr/>
              <p:nvPr/>
            </p:nvSpPr>
            <p:spPr>
              <a:xfrm flipH="false" flipV="false" rot="0">
                <a:off x="0" y="0"/>
                <a:ext cx="900098" cy="869138"/>
              </a:xfrm>
              <a:custGeom>
                <a:avLst/>
                <a:gdLst/>
                <a:ahLst/>
                <a:cxnLst/>
                <a:rect r="r" b="b" t="t" l="l"/>
                <a:pathLst>
                  <a:path h="869138" w="900098">
                    <a:moveTo>
                      <a:pt x="450049" y="0"/>
                    </a:moveTo>
                    <a:cubicBezTo>
                      <a:pt x="201494" y="0"/>
                      <a:pt x="0" y="194563"/>
                      <a:pt x="0" y="434569"/>
                    </a:cubicBezTo>
                    <a:cubicBezTo>
                      <a:pt x="0" y="674575"/>
                      <a:pt x="201494" y="869138"/>
                      <a:pt x="450049" y="869138"/>
                    </a:cubicBezTo>
                    <a:cubicBezTo>
                      <a:pt x="698604" y="869138"/>
                      <a:pt x="900098" y="674575"/>
                      <a:pt x="900098" y="434569"/>
                    </a:cubicBezTo>
                    <a:cubicBezTo>
                      <a:pt x="900098" y="194563"/>
                      <a:pt x="698604" y="0"/>
                      <a:pt x="450049" y="0"/>
                    </a:cubicBezTo>
                    <a:close/>
                  </a:path>
                </a:pathLst>
              </a:custGeom>
              <a:solidFill>
                <a:srgbClr val="000000"/>
              </a:solidFill>
            </p:spPr>
          </p:sp>
          <p:sp>
            <p:nvSpPr>
              <p:cNvPr name="TextBox 34" id="34"/>
              <p:cNvSpPr txBox="true"/>
              <p:nvPr/>
            </p:nvSpPr>
            <p:spPr>
              <a:xfrm>
                <a:off x="84384" y="-13768"/>
                <a:ext cx="731330" cy="801424"/>
              </a:xfrm>
              <a:prstGeom prst="rect">
                <a:avLst/>
              </a:prstGeom>
            </p:spPr>
            <p:txBody>
              <a:bodyPr anchor="ctr" rtlCol="false" tIns="50800" lIns="50800" bIns="50800" rIns="50800"/>
              <a:lstStyle/>
              <a:p>
                <a:pPr algn="ctr">
                  <a:lnSpc>
                    <a:spcPts val="3219"/>
                  </a:lnSpc>
                </a:pPr>
              </a:p>
            </p:txBody>
          </p:sp>
        </p:grpSp>
        <p:sp>
          <p:nvSpPr>
            <p:cNvPr name="TextBox 35" id="35"/>
            <p:cNvSpPr txBox="true"/>
            <p:nvPr/>
          </p:nvSpPr>
          <p:spPr>
            <a:xfrm rot="0">
              <a:off x="197839" y="-54"/>
              <a:ext cx="397364" cy="589920"/>
            </a:xfrm>
            <a:prstGeom prst="rect">
              <a:avLst/>
            </a:prstGeom>
          </p:spPr>
          <p:txBody>
            <a:bodyPr anchor="t" rtlCol="false" tIns="0" lIns="0" bIns="0" rIns="0">
              <a:spAutoFit/>
            </a:bodyPr>
            <a:lstStyle/>
            <a:p>
              <a:pPr algn="ctr">
                <a:lnSpc>
                  <a:spcPts val="3701"/>
                </a:lnSpc>
              </a:pPr>
              <a:r>
                <a:rPr lang="en-US" sz="2643">
                  <a:solidFill>
                    <a:srgbClr val="FFFFFF"/>
                  </a:solidFill>
                  <a:latin typeface="Open Sans"/>
                  <a:ea typeface="Open Sans"/>
                  <a:cs typeface="Open Sans"/>
                  <a:sym typeface="Open Sans"/>
                </a:rPr>
                <a:t>I</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9DFCF"/>
        </a:solidFill>
      </p:bgPr>
    </p:bg>
    <p:spTree>
      <p:nvGrpSpPr>
        <p:cNvPr id="1" name=""/>
        <p:cNvGrpSpPr/>
        <p:nvPr/>
      </p:nvGrpSpPr>
      <p:grpSpPr>
        <a:xfrm>
          <a:off x="0" y="0"/>
          <a:ext cx="0" cy="0"/>
          <a:chOff x="0" y="0"/>
          <a:chExt cx="0" cy="0"/>
        </a:xfrm>
      </p:grpSpPr>
      <p:grpSp>
        <p:nvGrpSpPr>
          <p:cNvPr name="Group 2" id="2"/>
          <p:cNvGrpSpPr/>
          <p:nvPr/>
        </p:nvGrpSpPr>
        <p:grpSpPr>
          <a:xfrm rot="0">
            <a:off x="1685204" y="545788"/>
            <a:ext cx="14496158" cy="9195423"/>
            <a:chOff x="0" y="0"/>
            <a:chExt cx="3817918" cy="2421840"/>
          </a:xfrm>
        </p:grpSpPr>
        <p:sp>
          <p:nvSpPr>
            <p:cNvPr name="Freeform 3" id="3"/>
            <p:cNvSpPr/>
            <p:nvPr/>
          </p:nvSpPr>
          <p:spPr>
            <a:xfrm flipH="false" flipV="false" rot="0">
              <a:off x="0" y="0"/>
              <a:ext cx="3817918" cy="2421840"/>
            </a:xfrm>
            <a:custGeom>
              <a:avLst/>
              <a:gdLst/>
              <a:ahLst/>
              <a:cxnLst/>
              <a:rect r="r" b="b" t="t" l="l"/>
              <a:pathLst>
                <a:path h="2421840" w="3817918">
                  <a:moveTo>
                    <a:pt x="0" y="0"/>
                  </a:moveTo>
                  <a:lnTo>
                    <a:pt x="3817918" y="0"/>
                  </a:lnTo>
                  <a:lnTo>
                    <a:pt x="3817918" y="2421840"/>
                  </a:lnTo>
                  <a:lnTo>
                    <a:pt x="0" y="2421840"/>
                  </a:lnTo>
                  <a:close/>
                </a:path>
              </a:pathLst>
            </a:custGeom>
            <a:solidFill>
              <a:srgbClr val="FFFFFF"/>
            </a:solidFill>
            <a:ln w="9525" cap="sq">
              <a:solidFill>
                <a:srgbClr val="000000"/>
              </a:solidFill>
              <a:prstDash val="solid"/>
              <a:miter/>
            </a:ln>
          </p:spPr>
        </p:sp>
        <p:sp>
          <p:nvSpPr>
            <p:cNvPr name="TextBox 4" id="4"/>
            <p:cNvSpPr txBox="true"/>
            <p:nvPr/>
          </p:nvSpPr>
          <p:spPr>
            <a:xfrm>
              <a:off x="0" y="-38100"/>
              <a:ext cx="3817918" cy="2459940"/>
            </a:xfrm>
            <a:prstGeom prst="rect">
              <a:avLst/>
            </a:prstGeom>
          </p:spPr>
          <p:txBody>
            <a:bodyPr anchor="ctr" rtlCol="false" tIns="50800" lIns="50800" bIns="50800" rIns="50800"/>
            <a:lstStyle/>
            <a:p>
              <a:pPr algn="ctr">
                <a:lnSpc>
                  <a:spcPts val="2799"/>
                </a:lnSpc>
              </a:pPr>
            </a:p>
          </p:txBody>
        </p:sp>
      </p:grpSp>
      <p:sp>
        <p:nvSpPr>
          <p:cNvPr name="TextBox 5" id="5"/>
          <p:cNvSpPr txBox="true"/>
          <p:nvPr/>
        </p:nvSpPr>
        <p:spPr>
          <a:xfrm rot="0">
            <a:off x="5734206" y="1424967"/>
            <a:ext cx="6819588" cy="512445"/>
          </a:xfrm>
          <a:prstGeom prst="rect">
            <a:avLst/>
          </a:prstGeom>
        </p:spPr>
        <p:txBody>
          <a:bodyPr anchor="t" rtlCol="false" tIns="0" lIns="0" bIns="0" rIns="0">
            <a:spAutoFit/>
          </a:bodyPr>
          <a:lstStyle/>
          <a:p>
            <a:pPr algn="ctr">
              <a:lnSpc>
                <a:spcPts val="3990"/>
              </a:lnSpc>
            </a:pPr>
            <a:r>
              <a:rPr lang="en-US" b="true" sz="3500">
                <a:solidFill>
                  <a:srgbClr val="000000"/>
                </a:solidFill>
                <a:latin typeface="Neue Machina Ultra-Bold"/>
                <a:ea typeface="Neue Machina Ultra-Bold"/>
                <a:cs typeface="Neue Machina Ultra-Bold"/>
                <a:sym typeface="Neue Machina Ultra-Bold"/>
              </a:rPr>
              <a:t>INTRODUCTION </a:t>
            </a:r>
          </a:p>
        </p:txBody>
      </p:sp>
      <p:sp>
        <p:nvSpPr>
          <p:cNvPr name="TextBox 6" id="6"/>
          <p:cNvSpPr txBox="true"/>
          <p:nvPr/>
        </p:nvSpPr>
        <p:spPr>
          <a:xfrm rot="0">
            <a:off x="5193595" y="3559746"/>
            <a:ext cx="229791" cy="587960"/>
          </a:xfrm>
          <a:prstGeom prst="rect">
            <a:avLst/>
          </a:prstGeom>
        </p:spPr>
        <p:txBody>
          <a:bodyPr anchor="t" rtlCol="false" tIns="0" lIns="0" bIns="0" rIns="0">
            <a:spAutoFit/>
          </a:bodyPr>
          <a:lstStyle/>
          <a:p>
            <a:pPr algn="ctr">
              <a:lnSpc>
                <a:spcPts val="4342"/>
              </a:lnSpc>
            </a:pPr>
            <a:r>
              <a:rPr lang="en-US" sz="3101">
                <a:solidFill>
                  <a:srgbClr val="FFFFFF"/>
                </a:solidFill>
                <a:latin typeface="Akzidenz-Grotesk"/>
                <a:ea typeface="Akzidenz-Grotesk"/>
                <a:cs typeface="Akzidenz-Grotesk"/>
                <a:sym typeface="Akzidenz-Grotesk"/>
              </a:rPr>
              <a:t>2</a:t>
            </a:r>
          </a:p>
        </p:txBody>
      </p:sp>
      <p:sp>
        <p:nvSpPr>
          <p:cNvPr name="Freeform 7" id="7"/>
          <p:cNvSpPr/>
          <p:nvPr/>
        </p:nvSpPr>
        <p:spPr>
          <a:xfrm flipH="false" flipV="false" rot="-1934702">
            <a:off x="-725252" y="-250483"/>
            <a:ext cx="5211797" cy="3621355"/>
          </a:xfrm>
          <a:custGeom>
            <a:avLst/>
            <a:gdLst/>
            <a:ahLst/>
            <a:cxnLst/>
            <a:rect r="r" b="b" t="t" l="l"/>
            <a:pathLst>
              <a:path h="3621355" w="5211797">
                <a:moveTo>
                  <a:pt x="0" y="0"/>
                </a:moveTo>
                <a:lnTo>
                  <a:pt x="5211798" y="0"/>
                </a:lnTo>
                <a:lnTo>
                  <a:pt x="5211798" y="3621356"/>
                </a:lnTo>
                <a:lnTo>
                  <a:pt x="0" y="36213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7259300" y="9220200"/>
            <a:ext cx="152400" cy="190500"/>
          </a:xfrm>
          <a:prstGeom prst="rect">
            <a:avLst/>
          </a:prstGeom>
        </p:spPr>
        <p:txBody>
          <a:bodyPr anchor="t" rtlCol="false" tIns="0" lIns="0" bIns="0" rIns="0" wrap="none">
            <a:spAutoFit/>
          </a:bodyPr>
          <a:lstStyle/>
          <a:p>
            <a:pPr algn="ctr">
              <a:lnSpc>
                <a:spcPts val="2940"/>
              </a:lnSpc>
              <a:spcBef>
                <a:spcPct val="0"/>
              </a:spcBef>
            </a:pPr>
            <a:r>
              <a:rPr lang="en-US" b="true" sz="2100">
                <a:solidFill>
                  <a:srgbClr val="000000"/>
                </a:solidFill>
                <a:latin typeface="Canva Sans Bold"/>
                <a:ea typeface="Canva Sans Bold"/>
                <a:cs typeface="Canva Sans Bold"/>
                <a:sym typeface="Canva Sans Bold"/>
              </a:rPr>
              <a:t>3</a:t>
            </a:r>
          </a:p>
        </p:txBody>
      </p:sp>
      <p:sp>
        <p:nvSpPr>
          <p:cNvPr name="Freeform 9" id="9"/>
          <p:cNvSpPr/>
          <p:nvPr/>
        </p:nvSpPr>
        <p:spPr>
          <a:xfrm flipH="false" flipV="false" rot="8686839">
            <a:off x="14105523" y="6796489"/>
            <a:ext cx="5211797" cy="3621355"/>
          </a:xfrm>
          <a:custGeom>
            <a:avLst/>
            <a:gdLst/>
            <a:ahLst/>
            <a:cxnLst/>
            <a:rect r="r" b="b" t="t" l="l"/>
            <a:pathLst>
              <a:path h="3621355" w="5211797">
                <a:moveTo>
                  <a:pt x="0" y="0"/>
                </a:moveTo>
                <a:lnTo>
                  <a:pt x="5211797" y="0"/>
                </a:lnTo>
                <a:lnTo>
                  <a:pt x="5211797" y="3621355"/>
                </a:lnTo>
                <a:lnTo>
                  <a:pt x="0" y="36213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645998" y="3277709"/>
            <a:ext cx="10996004" cy="5210176"/>
          </a:xfrm>
          <a:prstGeom prst="rect">
            <a:avLst/>
          </a:prstGeom>
        </p:spPr>
        <p:txBody>
          <a:bodyPr anchor="t" rtlCol="false" tIns="0" lIns="0" bIns="0" rIns="0">
            <a:spAutoFit/>
          </a:bodyPr>
          <a:lstStyle/>
          <a:p>
            <a:pPr algn="just">
              <a:lnSpc>
                <a:spcPts val="4199"/>
              </a:lnSpc>
            </a:pPr>
            <a:r>
              <a:rPr lang="en-US" sz="2999">
                <a:solidFill>
                  <a:srgbClr val="000000"/>
                </a:solidFill>
                <a:latin typeface="Canva Sans"/>
                <a:ea typeface="Canva Sans"/>
                <a:cs typeface="Canva Sans"/>
                <a:sym typeface="Canva Sans"/>
              </a:rPr>
              <a:t>Ce projet consiste à concevoir et déployer une API RAG (Retrieval Augmented Generation) capable de répondre à des questions en s’appuyant sur des données indexées avec FAISS. L’objectif est de mettre en place une architecture complète incluant la collecte des données, la génération d’embeddings, la création d’un index vectoriel, puis l’exposition d’une API performante avec FastAPI. </a:t>
            </a:r>
          </a:p>
          <a:p>
            <a:pPr algn="just">
              <a:lnSpc>
                <a:spcPts val="4199"/>
              </a:lnSpc>
            </a:pPr>
            <a:r>
              <a:rPr lang="en-US" sz="2999">
                <a:solidFill>
                  <a:srgbClr val="000000"/>
                </a:solidFill>
                <a:latin typeface="Canva Sans"/>
                <a:ea typeface="Canva Sans"/>
                <a:cs typeface="Canva Sans"/>
                <a:sym typeface="Canva Sans"/>
              </a:rPr>
              <a:t>En l’espèce, nous allons préparer un chatbot qui répondra de façon précises aux questions liées aux évéments extrait des données d’OpenAgenda par API.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9DFCF"/>
        </a:solidFill>
      </p:bgPr>
    </p:bg>
    <p:spTree>
      <p:nvGrpSpPr>
        <p:cNvPr id="1" name=""/>
        <p:cNvGrpSpPr/>
        <p:nvPr/>
      </p:nvGrpSpPr>
      <p:grpSpPr>
        <a:xfrm>
          <a:off x="0" y="0"/>
          <a:ext cx="0" cy="0"/>
          <a:chOff x="0" y="0"/>
          <a:chExt cx="0" cy="0"/>
        </a:xfrm>
      </p:grpSpPr>
      <p:grpSp>
        <p:nvGrpSpPr>
          <p:cNvPr name="Group 2" id="2"/>
          <p:cNvGrpSpPr/>
          <p:nvPr/>
        </p:nvGrpSpPr>
        <p:grpSpPr>
          <a:xfrm rot="0">
            <a:off x="1628253" y="545788"/>
            <a:ext cx="14496158" cy="9195423"/>
            <a:chOff x="0" y="0"/>
            <a:chExt cx="3817918" cy="2421840"/>
          </a:xfrm>
        </p:grpSpPr>
        <p:sp>
          <p:nvSpPr>
            <p:cNvPr name="Freeform 3" id="3"/>
            <p:cNvSpPr/>
            <p:nvPr/>
          </p:nvSpPr>
          <p:spPr>
            <a:xfrm flipH="false" flipV="false" rot="0">
              <a:off x="0" y="0"/>
              <a:ext cx="3817918" cy="2421840"/>
            </a:xfrm>
            <a:custGeom>
              <a:avLst/>
              <a:gdLst/>
              <a:ahLst/>
              <a:cxnLst/>
              <a:rect r="r" b="b" t="t" l="l"/>
              <a:pathLst>
                <a:path h="2421840" w="3817918">
                  <a:moveTo>
                    <a:pt x="0" y="0"/>
                  </a:moveTo>
                  <a:lnTo>
                    <a:pt x="3817918" y="0"/>
                  </a:lnTo>
                  <a:lnTo>
                    <a:pt x="3817918" y="2421840"/>
                  </a:lnTo>
                  <a:lnTo>
                    <a:pt x="0" y="2421840"/>
                  </a:lnTo>
                  <a:close/>
                </a:path>
              </a:pathLst>
            </a:custGeom>
            <a:solidFill>
              <a:srgbClr val="FFFFFF"/>
            </a:solidFill>
            <a:ln w="9525" cap="sq">
              <a:solidFill>
                <a:srgbClr val="000000"/>
              </a:solidFill>
              <a:prstDash val="solid"/>
              <a:miter/>
            </a:ln>
          </p:spPr>
        </p:sp>
        <p:sp>
          <p:nvSpPr>
            <p:cNvPr name="TextBox 4" id="4"/>
            <p:cNvSpPr txBox="true"/>
            <p:nvPr/>
          </p:nvSpPr>
          <p:spPr>
            <a:xfrm>
              <a:off x="0" y="-47625"/>
              <a:ext cx="3817918" cy="2469465"/>
            </a:xfrm>
            <a:prstGeom prst="rect">
              <a:avLst/>
            </a:prstGeom>
          </p:spPr>
          <p:txBody>
            <a:bodyPr anchor="ctr" rtlCol="false" tIns="50800" lIns="50800" bIns="50800" rIns="50800"/>
            <a:lstStyle/>
            <a:p>
              <a:pPr algn="ctr">
                <a:lnSpc>
                  <a:spcPts val="3499"/>
                </a:lnSpc>
              </a:pPr>
            </a:p>
          </p:txBody>
        </p:sp>
      </p:grpSp>
      <p:graphicFrame>
        <p:nvGraphicFramePr>
          <p:cNvPr name="Object 5" id="5"/>
          <p:cNvGraphicFramePr/>
          <p:nvPr/>
        </p:nvGraphicFramePr>
        <p:xfrm>
          <a:off x="3048246" y="1760947"/>
          <a:ext cx="12885289" cy="8229600"/>
        </p:xfrm>
        <a:graphic>
          <a:graphicData uri="http://schemas.openxmlformats.org/presentationml/2006/ole">
            <p:oleObj imgW="15455900" imgH="108077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grpSp>
        <p:nvGrpSpPr>
          <p:cNvPr name="Group 7" id="7"/>
          <p:cNvGrpSpPr/>
          <p:nvPr/>
        </p:nvGrpSpPr>
        <p:grpSpPr>
          <a:xfrm rot="0">
            <a:off x="4349887" y="957298"/>
            <a:ext cx="594781" cy="574322"/>
            <a:chOff x="0" y="0"/>
            <a:chExt cx="793041" cy="765763"/>
          </a:xfrm>
        </p:grpSpPr>
        <p:grpSp>
          <p:nvGrpSpPr>
            <p:cNvPr name="Group 8" id="8"/>
            <p:cNvGrpSpPr/>
            <p:nvPr/>
          </p:nvGrpSpPr>
          <p:grpSpPr>
            <a:xfrm rot="0">
              <a:off x="0" y="0"/>
              <a:ext cx="793041" cy="765763"/>
              <a:chOff x="0" y="0"/>
              <a:chExt cx="900098" cy="869138"/>
            </a:xfrm>
          </p:grpSpPr>
          <p:sp>
            <p:nvSpPr>
              <p:cNvPr name="Freeform 9" id="9"/>
              <p:cNvSpPr/>
              <p:nvPr/>
            </p:nvSpPr>
            <p:spPr>
              <a:xfrm flipH="false" flipV="false" rot="0">
                <a:off x="0" y="0"/>
                <a:ext cx="900098" cy="869138"/>
              </a:xfrm>
              <a:custGeom>
                <a:avLst/>
                <a:gdLst/>
                <a:ahLst/>
                <a:cxnLst/>
                <a:rect r="r" b="b" t="t" l="l"/>
                <a:pathLst>
                  <a:path h="869138" w="900098">
                    <a:moveTo>
                      <a:pt x="450049" y="0"/>
                    </a:moveTo>
                    <a:cubicBezTo>
                      <a:pt x="201494" y="0"/>
                      <a:pt x="0" y="194563"/>
                      <a:pt x="0" y="434569"/>
                    </a:cubicBezTo>
                    <a:cubicBezTo>
                      <a:pt x="0" y="674575"/>
                      <a:pt x="201494" y="869138"/>
                      <a:pt x="450049" y="869138"/>
                    </a:cubicBezTo>
                    <a:cubicBezTo>
                      <a:pt x="698604" y="869138"/>
                      <a:pt x="900098" y="674575"/>
                      <a:pt x="900098" y="434569"/>
                    </a:cubicBezTo>
                    <a:cubicBezTo>
                      <a:pt x="900098" y="194563"/>
                      <a:pt x="698604" y="0"/>
                      <a:pt x="450049" y="0"/>
                    </a:cubicBezTo>
                    <a:close/>
                  </a:path>
                </a:pathLst>
              </a:custGeom>
              <a:solidFill>
                <a:srgbClr val="000000"/>
              </a:solidFill>
            </p:spPr>
          </p:sp>
          <p:sp>
            <p:nvSpPr>
              <p:cNvPr name="TextBox 10" id="10"/>
              <p:cNvSpPr txBox="true"/>
              <p:nvPr/>
            </p:nvSpPr>
            <p:spPr>
              <a:xfrm>
                <a:off x="84384" y="-13768"/>
                <a:ext cx="731330" cy="801424"/>
              </a:xfrm>
              <a:prstGeom prst="rect">
                <a:avLst/>
              </a:prstGeom>
            </p:spPr>
            <p:txBody>
              <a:bodyPr anchor="ctr" rtlCol="false" tIns="50800" lIns="50800" bIns="50800" rIns="50800"/>
              <a:lstStyle/>
              <a:p>
                <a:pPr algn="ctr">
                  <a:lnSpc>
                    <a:spcPts val="3219"/>
                  </a:lnSpc>
                </a:pPr>
              </a:p>
            </p:txBody>
          </p:sp>
        </p:grpSp>
        <p:sp>
          <p:nvSpPr>
            <p:cNvPr name="TextBox 11" id="11"/>
            <p:cNvSpPr txBox="true"/>
            <p:nvPr/>
          </p:nvSpPr>
          <p:spPr>
            <a:xfrm rot="0">
              <a:off x="197839" y="-54"/>
              <a:ext cx="397364" cy="589920"/>
            </a:xfrm>
            <a:prstGeom prst="rect">
              <a:avLst/>
            </a:prstGeom>
          </p:spPr>
          <p:txBody>
            <a:bodyPr anchor="t" rtlCol="false" tIns="0" lIns="0" bIns="0" rIns="0">
              <a:spAutoFit/>
            </a:bodyPr>
            <a:lstStyle/>
            <a:p>
              <a:pPr algn="ctr">
                <a:lnSpc>
                  <a:spcPts val="3701"/>
                </a:lnSpc>
              </a:pPr>
              <a:r>
                <a:rPr lang="en-US" sz="2643">
                  <a:solidFill>
                    <a:srgbClr val="FFFFFF"/>
                  </a:solidFill>
                  <a:latin typeface="Open Sans"/>
                  <a:ea typeface="Open Sans"/>
                  <a:cs typeface="Open Sans"/>
                  <a:sym typeface="Open Sans"/>
                </a:rPr>
                <a:t>I</a:t>
              </a:r>
            </a:p>
          </p:txBody>
        </p:sp>
      </p:grpSp>
      <p:sp>
        <p:nvSpPr>
          <p:cNvPr name="TextBox 12" id="12"/>
          <p:cNvSpPr txBox="true"/>
          <p:nvPr/>
        </p:nvSpPr>
        <p:spPr>
          <a:xfrm rot="0">
            <a:off x="5192497" y="975218"/>
            <a:ext cx="8745616" cy="481331"/>
          </a:xfrm>
          <a:prstGeom prst="rect">
            <a:avLst/>
          </a:prstGeom>
        </p:spPr>
        <p:txBody>
          <a:bodyPr anchor="t" rtlCol="false" tIns="0" lIns="0" bIns="0" rIns="0">
            <a:spAutoFit/>
          </a:bodyPr>
          <a:lstStyle/>
          <a:p>
            <a:pPr algn="l">
              <a:lnSpc>
                <a:spcPts val="3919"/>
              </a:lnSpc>
            </a:pPr>
            <a:r>
              <a:rPr lang="en-US" sz="2799" b="true">
                <a:solidFill>
                  <a:srgbClr val="000000"/>
                </a:solidFill>
                <a:latin typeface="Canva Sans Bold"/>
                <a:ea typeface="Canva Sans Bold"/>
                <a:cs typeface="Canva Sans Bold"/>
                <a:sym typeface="Canva Sans Bold"/>
              </a:rPr>
              <a:t>PRÉSENTATION DU SYSTÈME RAG DÉVELOPPÉ</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9DFCF"/>
        </a:solidFill>
      </p:bgPr>
    </p:bg>
    <p:spTree>
      <p:nvGrpSpPr>
        <p:cNvPr id="1" name=""/>
        <p:cNvGrpSpPr/>
        <p:nvPr/>
      </p:nvGrpSpPr>
      <p:grpSpPr>
        <a:xfrm>
          <a:off x="0" y="0"/>
          <a:ext cx="0" cy="0"/>
          <a:chOff x="0" y="0"/>
          <a:chExt cx="0" cy="0"/>
        </a:xfrm>
      </p:grpSpPr>
      <p:grpSp>
        <p:nvGrpSpPr>
          <p:cNvPr name="Group 2" id="2"/>
          <p:cNvGrpSpPr/>
          <p:nvPr/>
        </p:nvGrpSpPr>
        <p:grpSpPr>
          <a:xfrm rot="0">
            <a:off x="1628253" y="545788"/>
            <a:ext cx="14496158" cy="9195423"/>
            <a:chOff x="0" y="0"/>
            <a:chExt cx="3817918" cy="2421840"/>
          </a:xfrm>
        </p:grpSpPr>
        <p:sp>
          <p:nvSpPr>
            <p:cNvPr name="Freeform 3" id="3"/>
            <p:cNvSpPr/>
            <p:nvPr/>
          </p:nvSpPr>
          <p:spPr>
            <a:xfrm flipH="false" flipV="false" rot="0">
              <a:off x="0" y="0"/>
              <a:ext cx="3817918" cy="2421840"/>
            </a:xfrm>
            <a:custGeom>
              <a:avLst/>
              <a:gdLst/>
              <a:ahLst/>
              <a:cxnLst/>
              <a:rect r="r" b="b" t="t" l="l"/>
              <a:pathLst>
                <a:path h="2421840" w="3817918">
                  <a:moveTo>
                    <a:pt x="0" y="0"/>
                  </a:moveTo>
                  <a:lnTo>
                    <a:pt x="3817918" y="0"/>
                  </a:lnTo>
                  <a:lnTo>
                    <a:pt x="3817918" y="2421840"/>
                  </a:lnTo>
                  <a:lnTo>
                    <a:pt x="0" y="2421840"/>
                  </a:lnTo>
                  <a:close/>
                </a:path>
              </a:pathLst>
            </a:custGeom>
            <a:solidFill>
              <a:srgbClr val="FFFFFF"/>
            </a:solidFill>
            <a:ln w="9525" cap="sq">
              <a:solidFill>
                <a:srgbClr val="000000"/>
              </a:solidFill>
              <a:prstDash val="solid"/>
              <a:miter/>
            </a:ln>
          </p:spPr>
        </p:sp>
        <p:sp>
          <p:nvSpPr>
            <p:cNvPr name="TextBox 4" id="4"/>
            <p:cNvSpPr txBox="true"/>
            <p:nvPr/>
          </p:nvSpPr>
          <p:spPr>
            <a:xfrm>
              <a:off x="0" y="-47625"/>
              <a:ext cx="3817918" cy="2469465"/>
            </a:xfrm>
            <a:prstGeom prst="rect">
              <a:avLst/>
            </a:prstGeom>
          </p:spPr>
          <p:txBody>
            <a:bodyPr anchor="ctr" rtlCol="false" tIns="50800" lIns="50800" bIns="50800" rIns="50800"/>
            <a:lstStyle/>
            <a:p>
              <a:pPr algn="ctr">
                <a:lnSpc>
                  <a:spcPts val="3499"/>
                </a:lnSpc>
              </a:pPr>
            </a:p>
          </p:txBody>
        </p:sp>
      </p:grpSp>
      <p:sp>
        <p:nvSpPr>
          <p:cNvPr name="Freeform 5" id="5"/>
          <p:cNvSpPr/>
          <p:nvPr/>
        </p:nvSpPr>
        <p:spPr>
          <a:xfrm flipH="false" flipV="false" rot="-1934702">
            <a:off x="-725252" y="-250483"/>
            <a:ext cx="5211797" cy="3621355"/>
          </a:xfrm>
          <a:custGeom>
            <a:avLst/>
            <a:gdLst/>
            <a:ahLst/>
            <a:cxnLst/>
            <a:rect r="r" b="b" t="t" l="l"/>
            <a:pathLst>
              <a:path h="3621355" w="5211797">
                <a:moveTo>
                  <a:pt x="0" y="0"/>
                </a:moveTo>
                <a:lnTo>
                  <a:pt x="5211798" y="0"/>
                </a:lnTo>
                <a:lnTo>
                  <a:pt x="5211798" y="3621356"/>
                </a:lnTo>
                <a:lnTo>
                  <a:pt x="0" y="36213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259300" y="9220200"/>
            <a:ext cx="152400" cy="190500"/>
          </a:xfrm>
          <a:prstGeom prst="rect">
            <a:avLst/>
          </a:prstGeom>
        </p:spPr>
        <p:txBody>
          <a:bodyPr anchor="t" rtlCol="false" tIns="0" lIns="0" bIns="0" rIns="0" wrap="none">
            <a:spAutoFit/>
          </a:bodyPr>
          <a:lstStyle/>
          <a:p>
            <a:pPr algn="ctr">
              <a:lnSpc>
                <a:spcPts val="2940"/>
              </a:lnSpc>
              <a:spcBef>
                <a:spcPct val="0"/>
              </a:spcBef>
            </a:pPr>
            <a:r>
              <a:rPr lang="en-US" b="true" sz="2100">
                <a:solidFill>
                  <a:srgbClr val="000000"/>
                </a:solidFill>
                <a:latin typeface="Canva Sans Bold"/>
                <a:ea typeface="Canva Sans Bold"/>
                <a:cs typeface="Canva Sans Bold"/>
                <a:sym typeface="Canva Sans Bold"/>
              </a:rPr>
              <a:t>5</a:t>
            </a:r>
          </a:p>
        </p:txBody>
      </p:sp>
      <p:sp>
        <p:nvSpPr>
          <p:cNvPr name="Freeform 7" id="7"/>
          <p:cNvSpPr/>
          <p:nvPr/>
        </p:nvSpPr>
        <p:spPr>
          <a:xfrm flipH="false" flipV="false" rot="8686839">
            <a:off x="14105523" y="6796489"/>
            <a:ext cx="5211797" cy="3621355"/>
          </a:xfrm>
          <a:custGeom>
            <a:avLst/>
            <a:gdLst/>
            <a:ahLst/>
            <a:cxnLst/>
            <a:rect r="r" b="b" t="t" l="l"/>
            <a:pathLst>
              <a:path h="3621355" w="5211797">
                <a:moveTo>
                  <a:pt x="0" y="0"/>
                </a:moveTo>
                <a:lnTo>
                  <a:pt x="5211797" y="0"/>
                </a:lnTo>
                <a:lnTo>
                  <a:pt x="5211797" y="3621355"/>
                </a:lnTo>
                <a:lnTo>
                  <a:pt x="0" y="36213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4349887" y="957298"/>
            <a:ext cx="594781" cy="574322"/>
            <a:chOff x="0" y="0"/>
            <a:chExt cx="793041" cy="765763"/>
          </a:xfrm>
        </p:grpSpPr>
        <p:grpSp>
          <p:nvGrpSpPr>
            <p:cNvPr name="Group 9" id="9"/>
            <p:cNvGrpSpPr/>
            <p:nvPr/>
          </p:nvGrpSpPr>
          <p:grpSpPr>
            <a:xfrm rot="0">
              <a:off x="0" y="0"/>
              <a:ext cx="793041" cy="765763"/>
              <a:chOff x="0" y="0"/>
              <a:chExt cx="900098" cy="869138"/>
            </a:xfrm>
          </p:grpSpPr>
          <p:sp>
            <p:nvSpPr>
              <p:cNvPr name="Freeform 10" id="10"/>
              <p:cNvSpPr/>
              <p:nvPr/>
            </p:nvSpPr>
            <p:spPr>
              <a:xfrm flipH="false" flipV="false" rot="0">
                <a:off x="0" y="0"/>
                <a:ext cx="900098" cy="869138"/>
              </a:xfrm>
              <a:custGeom>
                <a:avLst/>
                <a:gdLst/>
                <a:ahLst/>
                <a:cxnLst/>
                <a:rect r="r" b="b" t="t" l="l"/>
                <a:pathLst>
                  <a:path h="869138" w="900098">
                    <a:moveTo>
                      <a:pt x="450049" y="0"/>
                    </a:moveTo>
                    <a:cubicBezTo>
                      <a:pt x="201494" y="0"/>
                      <a:pt x="0" y="194563"/>
                      <a:pt x="0" y="434569"/>
                    </a:cubicBezTo>
                    <a:cubicBezTo>
                      <a:pt x="0" y="674575"/>
                      <a:pt x="201494" y="869138"/>
                      <a:pt x="450049" y="869138"/>
                    </a:cubicBezTo>
                    <a:cubicBezTo>
                      <a:pt x="698604" y="869138"/>
                      <a:pt x="900098" y="674575"/>
                      <a:pt x="900098" y="434569"/>
                    </a:cubicBezTo>
                    <a:cubicBezTo>
                      <a:pt x="900098" y="194563"/>
                      <a:pt x="698604" y="0"/>
                      <a:pt x="450049" y="0"/>
                    </a:cubicBezTo>
                    <a:close/>
                  </a:path>
                </a:pathLst>
              </a:custGeom>
              <a:solidFill>
                <a:srgbClr val="000000"/>
              </a:solidFill>
            </p:spPr>
          </p:sp>
          <p:sp>
            <p:nvSpPr>
              <p:cNvPr name="TextBox 11" id="11"/>
              <p:cNvSpPr txBox="true"/>
              <p:nvPr/>
            </p:nvSpPr>
            <p:spPr>
              <a:xfrm>
                <a:off x="84384" y="-13768"/>
                <a:ext cx="731330" cy="801424"/>
              </a:xfrm>
              <a:prstGeom prst="rect">
                <a:avLst/>
              </a:prstGeom>
            </p:spPr>
            <p:txBody>
              <a:bodyPr anchor="ctr" rtlCol="false" tIns="50800" lIns="50800" bIns="50800" rIns="50800"/>
              <a:lstStyle/>
              <a:p>
                <a:pPr algn="ctr">
                  <a:lnSpc>
                    <a:spcPts val="3219"/>
                  </a:lnSpc>
                </a:pPr>
              </a:p>
            </p:txBody>
          </p:sp>
        </p:grpSp>
        <p:sp>
          <p:nvSpPr>
            <p:cNvPr name="TextBox 12" id="12"/>
            <p:cNvSpPr txBox="true"/>
            <p:nvPr/>
          </p:nvSpPr>
          <p:spPr>
            <a:xfrm rot="0">
              <a:off x="197839" y="-54"/>
              <a:ext cx="397364" cy="589920"/>
            </a:xfrm>
            <a:prstGeom prst="rect">
              <a:avLst/>
            </a:prstGeom>
          </p:spPr>
          <p:txBody>
            <a:bodyPr anchor="t" rtlCol="false" tIns="0" lIns="0" bIns="0" rIns="0">
              <a:spAutoFit/>
            </a:bodyPr>
            <a:lstStyle/>
            <a:p>
              <a:pPr algn="ctr">
                <a:lnSpc>
                  <a:spcPts val="3701"/>
                </a:lnSpc>
              </a:pPr>
              <a:r>
                <a:rPr lang="en-US" sz="2643">
                  <a:solidFill>
                    <a:srgbClr val="FFFFFF"/>
                  </a:solidFill>
                  <a:latin typeface="Open Sans"/>
                  <a:ea typeface="Open Sans"/>
                  <a:cs typeface="Open Sans"/>
                  <a:sym typeface="Open Sans"/>
                </a:rPr>
                <a:t>I</a:t>
              </a:r>
            </a:p>
          </p:txBody>
        </p:sp>
      </p:grpSp>
      <p:sp>
        <p:nvSpPr>
          <p:cNvPr name="TextBox 13" id="13"/>
          <p:cNvSpPr txBox="true"/>
          <p:nvPr/>
        </p:nvSpPr>
        <p:spPr>
          <a:xfrm rot="0">
            <a:off x="5192497" y="975218"/>
            <a:ext cx="8745616" cy="481331"/>
          </a:xfrm>
          <a:prstGeom prst="rect">
            <a:avLst/>
          </a:prstGeom>
        </p:spPr>
        <p:txBody>
          <a:bodyPr anchor="t" rtlCol="false" tIns="0" lIns="0" bIns="0" rIns="0">
            <a:spAutoFit/>
          </a:bodyPr>
          <a:lstStyle/>
          <a:p>
            <a:pPr algn="l">
              <a:lnSpc>
                <a:spcPts val="3919"/>
              </a:lnSpc>
            </a:pPr>
            <a:r>
              <a:rPr lang="en-US" sz="2799" b="true">
                <a:solidFill>
                  <a:srgbClr val="000000"/>
                </a:solidFill>
                <a:latin typeface="Canva Sans Bold"/>
                <a:ea typeface="Canva Sans Bold"/>
                <a:cs typeface="Canva Sans Bold"/>
                <a:sym typeface="Canva Sans Bold"/>
              </a:rPr>
              <a:t>PRÉSENTATION DU SYSTÈME RAG DÉVELOPPÉ</a:t>
            </a:r>
          </a:p>
        </p:txBody>
      </p:sp>
      <p:sp>
        <p:nvSpPr>
          <p:cNvPr name="Freeform 14" id="14"/>
          <p:cNvSpPr/>
          <p:nvPr/>
        </p:nvSpPr>
        <p:spPr>
          <a:xfrm flipH="false" flipV="false" rot="0">
            <a:off x="4044729" y="2905154"/>
            <a:ext cx="9493570" cy="4756654"/>
          </a:xfrm>
          <a:custGeom>
            <a:avLst/>
            <a:gdLst/>
            <a:ahLst/>
            <a:cxnLst/>
            <a:rect r="r" b="b" t="t" l="l"/>
            <a:pathLst>
              <a:path h="4756654" w="9493570">
                <a:moveTo>
                  <a:pt x="0" y="0"/>
                </a:moveTo>
                <a:lnTo>
                  <a:pt x="9493570" y="0"/>
                </a:lnTo>
                <a:lnTo>
                  <a:pt x="9493570" y="4756654"/>
                </a:lnTo>
                <a:lnTo>
                  <a:pt x="0" y="4756654"/>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9DFCF"/>
        </a:solidFill>
      </p:bgPr>
    </p:bg>
    <p:spTree>
      <p:nvGrpSpPr>
        <p:cNvPr id="1" name=""/>
        <p:cNvGrpSpPr/>
        <p:nvPr/>
      </p:nvGrpSpPr>
      <p:grpSpPr>
        <a:xfrm>
          <a:off x="0" y="0"/>
          <a:ext cx="0" cy="0"/>
          <a:chOff x="0" y="0"/>
          <a:chExt cx="0" cy="0"/>
        </a:xfrm>
      </p:grpSpPr>
      <p:grpSp>
        <p:nvGrpSpPr>
          <p:cNvPr name="Group 2" id="2"/>
          <p:cNvGrpSpPr/>
          <p:nvPr/>
        </p:nvGrpSpPr>
        <p:grpSpPr>
          <a:xfrm rot="0">
            <a:off x="1628253" y="545788"/>
            <a:ext cx="14496158" cy="9195423"/>
            <a:chOff x="0" y="0"/>
            <a:chExt cx="3817918" cy="2421840"/>
          </a:xfrm>
        </p:grpSpPr>
        <p:sp>
          <p:nvSpPr>
            <p:cNvPr name="Freeform 3" id="3"/>
            <p:cNvSpPr/>
            <p:nvPr/>
          </p:nvSpPr>
          <p:spPr>
            <a:xfrm flipH="false" flipV="false" rot="0">
              <a:off x="0" y="0"/>
              <a:ext cx="3817918" cy="2421840"/>
            </a:xfrm>
            <a:custGeom>
              <a:avLst/>
              <a:gdLst/>
              <a:ahLst/>
              <a:cxnLst/>
              <a:rect r="r" b="b" t="t" l="l"/>
              <a:pathLst>
                <a:path h="2421840" w="3817918">
                  <a:moveTo>
                    <a:pt x="0" y="0"/>
                  </a:moveTo>
                  <a:lnTo>
                    <a:pt x="3817918" y="0"/>
                  </a:lnTo>
                  <a:lnTo>
                    <a:pt x="3817918" y="2421840"/>
                  </a:lnTo>
                  <a:lnTo>
                    <a:pt x="0" y="2421840"/>
                  </a:lnTo>
                  <a:close/>
                </a:path>
              </a:pathLst>
            </a:custGeom>
            <a:solidFill>
              <a:srgbClr val="FFFFFF"/>
            </a:solidFill>
            <a:ln w="9525" cap="sq">
              <a:solidFill>
                <a:srgbClr val="000000"/>
              </a:solidFill>
              <a:prstDash val="solid"/>
              <a:miter/>
            </a:ln>
          </p:spPr>
        </p:sp>
        <p:sp>
          <p:nvSpPr>
            <p:cNvPr name="TextBox 4" id="4"/>
            <p:cNvSpPr txBox="true"/>
            <p:nvPr/>
          </p:nvSpPr>
          <p:spPr>
            <a:xfrm>
              <a:off x="0" y="-47625"/>
              <a:ext cx="3817918" cy="2469465"/>
            </a:xfrm>
            <a:prstGeom prst="rect">
              <a:avLst/>
            </a:prstGeom>
          </p:spPr>
          <p:txBody>
            <a:bodyPr anchor="ctr" rtlCol="false" tIns="50800" lIns="50800" bIns="50800" rIns="50800"/>
            <a:lstStyle/>
            <a:p>
              <a:pPr algn="ctr">
                <a:lnSpc>
                  <a:spcPts val="3499"/>
                </a:lnSpc>
              </a:pPr>
            </a:p>
          </p:txBody>
        </p:sp>
      </p:grpSp>
      <p:sp>
        <p:nvSpPr>
          <p:cNvPr name="Freeform 5" id="5"/>
          <p:cNvSpPr/>
          <p:nvPr/>
        </p:nvSpPr>
        <p:spPr>
          <a:xfrm flipH="false" flipV="false" rot="-1934702">
            <a:off x="-725252" y="-250483"/>
            <a:ext cx="5211797" cy="3621355"/>
          </a:xfrm>
          <a:custGeom>
            <a:avLst/>
            <a:gdLst/>
            <a:ahLst/>
            <a:cxnLst/>
            <a:rect r="r" b="b" t="t" l="l"/>
            <a:pathLst>
              <a:path h="3621355" w="5211797">
                <a:moveTo>
                  <a:pt x="0" y="0"/>
                </a:moveTo>
                <a:lnTo>
                  <a:pt x="5211798" y="0"/>
                </a:lnTo>
                <a:lnTo>
                  <a:pt x="5211798" y="3621356"/>
                </a:lnTo>
                <a:lnTo>
                  <a:pt x="0" y="36213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259300" y="9220200"/>
            <a:ext cx="152400" cy="190500"/>
          </a:xfrm>
          <a:prstGeom prst="rect">
            <a:avLst/>
          </a:prstGeom>
        </p:spPr>
        <p:txBody>
          <a:bodyPr anchor="t" rtlCol="false" tIns="0" lIns="0" bIns="0" rIns="0" wrap="none">
            <a:spAutoFit/>
          </a:bodyPr>
          <a:lstStyle/>
          <a:p>
            <a:pPr algn="ctr">
              <a:lnSpc>
                <a:spcPts val="2940"/>
              </a:lnSpc>
              <a:spcBef>
                <a:spcPct val="0"/>
              </a:spcBef>
            </a:pPr>
            <a:r>
              <a:rPr lang="en-US" b="true" sz="2100">
                <a:solidFill>
                  <a:srgbClr val="000000"/>
                </a:solidFill>
                <a:latin typeface="Canva Sans Bold"/>
                <a:ea typeface="Canva Sans Bold"/>
                <a:cs typeface="Canva Sans Bold"/>
                <a:sym typeface="Canva Sans Bold"/>
              </a:rPr>
              <a:t>6</a:t>
            </a:r>
          </a:p>
        </p:txBody>
      </p:sp>
      <p:sp>
        <p:nvSpPr>
          <p:cNvPr name="Freeform 7" id="7"/>
          <p:cNvSpPr/>
          <p:nvPr/>
        </p:nvSpPr>
        <p:spPr>
          <a:xfrm flipH="false" flipV="false" rot="8686839">
            <a:off x="14105523" y="6796489"/>
            <a:ext cx="5211797" cy="3621355"/>
          </a:xfrm>
          <a:custGeom>
            <a:avLst/>
            <a:gdLst/>
            <a:ahLst/>
            <a:cxnLst/>
            <a:rect r="r" b="b" t="t" l="l"/>
            <a:pathLst>
              <a:path h="3621355" w="5211797">
                <a:moveTo>
                  <a:pt x="0" y="0"/>
                </a:moveTo>
                <a:lnTo>
                  <a:pt x="5211797" y="0"/>
                </a:lnTo>
                <a:lnTo>
                  <a:pt x="5211797" y="3621355"/>
                </a:lnTo>
                <a:lnTo>
                  <a:pt x="0" y="36213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4455939" y="1727529"/>
            <a:ext cx="594781" cy="574322"/>
            <a:chOff x="0" y="0"/>
            <a:chExt cx="793041" cy="765763"/>
          </a:xfrm>
        </p:grpSpPr>
        <p:grpSp>
          <p:nvGrpSpPr>
            <p:cNvPr name="Group 9" id="9"/>
            <p:cNvGrpSpPr/>
            <p:nvPr/>
          </p:nvGrpSpPr>
          <p:grpSpPr>
            <a:xfrm rot="0">
              <a:off x="0" y="0"/>
              <a:ext cx="793041" cy="765763"/>
              <a:chOff x="0" y="0"/>
              <a:chExt cx="900098" cy="869138"/>
            </a:xfrm>
          </p:grpSpPr>
          <p:sp>
            <p:nvSpPr>
              <p:cNvPr name="Freeform 10" id="10"/>
              <p:cNvSpPr/>
              <p:nvPr/>
            </p:nvSpPr>
            <p:spPr>
              <a:xfrm flipH="false" flipV="false" rot="0">
                <a:off x="0" y="0"/>
                <a:ext cx="900098" cy="869138"/>
              </a:xfrm>
              <a:custGeom>
                <a:avLst/>
                <a:gdLst/>
                <a:ahLst/>
                <a:cxnLst/>
                <a:rect r="r" b="b" t="t" l="l"/>
                <a:pathLst>
                  <a:path h="869138" w="900098">
                    <a:moveTo>
                      <a:pt x="450049" y="0"/>
                    </a:moveTo>
                    <a:cubicBezTo>
                      <a:pt x="201494" y="0"/>
                      <a:pt x="0" y="194563"/>
                      <a:pt x="0" y="434569"/>
                    </a:cubicBezTo>
                    <a:cubicBezTo>
                      <a:pt x="0" y="674575"/>
                      <a:pt x="201494" y="869138"/>
                      <a:pt x="450049" y="869138"/>
                    </a:cubicBezTo>
                    <a:cubicBezTo>
                      <a:pt x="698604" y="869138"/>
                      <a:pt x="900098" y="674575"/>
                      <a:pt x="900098" y="434569"/>
                    </a:cubicBezTo>
                    <a:cubicBezTo>
                      <a:pt x="900098" y="194563"/>
                      <a:pt x="698604" y="0"/>
                      <a:pt x="450049" y="0"/>
                    </a:cubicBezTo>
                    <a:close/>
                  </a:path>
                </a:pathLst>
              </a:custGeom>
              <a:solidFill>
                <a:srgbClr val="000000"/>
              </a:solidFill>
            </p:spPr>
          </p:sp>
          <p:sp>
            <p:nvSpPr>
              <p:cNvPr name="TextBox 11" id="11"/>
              <p:cNvSpPr txBox="true"/>
              <p:nvPr/>
            </p:nvSpPr>
            <p:spPr>
              <a:xfrm>
                <a:off x="84384" y="-13768"/>
                <a:ext cx="731330" cy="801424"/>
              </a:xfrm>
              <a:prstGeom prst="rect">
                <a:avLst/>
              </a:prstGeom>
            </p:spPr>
            <p:txBody>
              <a:bodyPr anchor="ctr" rtlCol="false" tIns="50800" lIns="50800" bIns="50800" rIns="50800"/>
              <a:lstStyle/>
              <a:p>
                <a:pPr algn="ctr">
                  <a:lnSpc>
                    <a:spcPts val="3219"/>
                  </a:lnSpc>
                </a:pPr>
              </a:p>
            </p:txBody>
          </p:sp>
        </p:grpSp>
        <p:sp>
          <p:nvSpPr>
            <p:cNvPr name="TextBox 12" id="12"/>
            <p:cNvSpPr txBox="true"/>
            <p:nvPr/>
          </p:nvSpPr>
          <p:spPr>
            <a:xfrm rot="0">
              <a:off x="197839" y="-54"/>
              <a:ext cx="397364" cy="589920"/>
            </a:xfrm>
            <a:prstGeom prst="rect">
              <a:avLst/>
            </a:prstGeom>
          </p:spPr>
          <p:txBody>
            <a:bodyPr anchor="t" rtlCol="false" tIns="0" lIns="0" bIns="0" rIns="0">
              <a:spAutoFit/>
            </a:bodyPr>
            <a:lstStyle/>
            <a:p>
              <a:pPr algn="ctr">
                <a:lnSpc>
                  <a:spcPts val="3701"/>
                </a:lnSpc>
              </a:pPr>
              <a:r>
                <a:rPr lang="en-US" sz="2643">
                  <a:solidFill>
                    <a:srgbClr val="FFFFFF"/>
                  </a:solidFill>
                  <a:latin typeface="Open Sans"/>
                  <a:ea typeface="Open Sans"/>
                  <a:cs typeface="Open Sans"/>
                  <a:sym typeface="Open Sans"/>
                </a:rPr>
                <a:t>I</a:t>
              </a:r>
            </a:p>
          </p:txBody>
        </p:sp>
      </p:grpSp>
      <p:sp>
        <p:nvSpPr>
          <p:cNvPr name="Freeform 13" id="13"/>
          <p:cNvSpPr/>
          <p:nvPr/>
        </p:nvSpPr>
        <p:spPr>
          <a:xfrm flipH="false" flipV="false" rot="0">
            <a:off x="2120577" y="2918717"/>
            <a:ext cx="13446831" cy="4471071"/>
          </a:xfrm>
          <a:custGeom>
            <a:avLst/>
            <a:gdLst/>
            <a:ahLst/>
            <a:cxnLst/>
            <a:rect r="r" b="b" t="t" l="l"/>
            <a:pathLst>
              <a:path h="4471071" w="13446831">
                <a:moveTo>
                  <a:pt x="0" y="0"/>
                </a:moveTo>
                <a:lnTo>
                  <a:pt x="13446831" y="0"/>
                </a:lnTo>
                <a:lnTo>
                  <a:pt x="13446831" y="4471072"/>
                </a:lnTo>
                <a:lnTo>
                  <a:pt x="0" y="4471072"/>
                </a:lnTo>
                <a:lnTo>
                  <a:pt x="0" y="0"/>
                </a:lnTo>
                <a:close/>
              </a:path>
            </a:pathLst>
          </a:custGeom>
          <a:blipFill>
            <a:blip r:embed="rId4"/>
            <a:stretch>
              <a:fillRect l="0" t="0" r="0" b="0"/>
            </a:stretch>
          </a:blipFill>
        </p:spPr>
      </p:sp>
      <p:sp>
        <p:nvSpPr>
          <p:cNvPr name="TextBox 14" id="14"/>
          <p:cNvSpPr txBox="true"/>
          <p:nvPr/>
        </p:nvSpPr>
        <p:spPr>
          <a:xfrm rot="0">
            <a:off x="5298548" y="1745450"/>
            <a:ext cx="8745616" cy="481331"/>
          </a:xfrm>
          <a:prstGeom prst="rect">
            <a:avLst/>
          </a:prstGeom>
        </p:spPr>
        <p:txBody>
          <a:bodyPr anchor="t" rtlCol="false" tIns="0" lIns="0" bIns="0" rIns="0">
            <a:spAutoFit/>
          </a:bodyPr>
          <a:lstStyle/>
          <a:p>
            <a:pPr algn="l">
              <a:lnSpc>
                <a:spcPts val="3919"/>
              </a:lnSpc>
            </a:pPr>
            <a:r>
              <a:rPr lang="en-US" sz="2799" b="true">
                <a:solidFill>
                  <a:srgbClr val="000000"/>
                </a:solidFill>
                <a:latin typeface="Canva Sans Bold"/>
                <a:ea typeface="Canva Sans Bold"/>
                <a:cs typeface="Canva Sans Bold"/>
                <a:sym typeface="Canva Sans Bold"/>
              </a:rPr>
              <a:t>PRÉSENTATION DU SYSTÈME RAG DÉVELOPPÉ</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9DFCF"/>
        </a:solidFill>
      </p:bgPr>
    </p:bg>
    <p:spTree>
      <p:nvGrpSpPr>
        <p:cNvPr id="1" name=""/>
        <p:cNvGrpSpPr/>
        <p:nvPr/>
      </p:nvGrpSpPr>
      <p:grpSpPr>
        <a:xfrm>
          <a:off x="0" y="0"/>
          <a:ext cx="0" cy="0"/>
          <a:chOff x="0" y="0"/>
          <a:chExt cx="0" cy="0"/>
        </a:xfrm>
      </p:grpSpPr>
      <p:grpSp>
        <p:nvGrpSpPr>
          <p:cNvPr name="Group 2" id="2"/>
          <p:cNvGrpSpPr/>
          <p:nvPr/>
        </p:nvGrpSpPr>
        <p:grpSpPr>
          <a:xfrm rot="0">
            <a:off x="1628253" y="545788"/>
            <a:ext cx="14496158" cy="9195423"/>
            <a:chOff x="0" y="0"/>
            <a:chExt cx="3817918" cy="2421840"/>
          </a:xfrm>
        </p:grpSpPr>
        <p:sp>
          <p:nvSpPr>
            <p:cNvPr name="Freeform 3" id="3"/>
            <p:cNvSpPr/>
            <p:nvPr/>
          </p:nvSpPr>
          <p:spPr>
            <a:xfrm flipH="false" flipV="false" rot="0">
              <a:off x="0" y="0"/>
              <a:ext cx="3817918" cy="2421840"/>
            </a:xfrm>
            <a:custGeom>
              <a:avLst/>
              <a:gdLst/>
              <a:ahLst/>
              <a:cxnLst/>
              <a:rect r="r" b="b" t="t" l="l"/>
              <a:pathLst>
                <a:path h="2421840" w="3817918">
                  <a:moveTo>
                    <a:pt x="0" y="0"/>
                  </a:moveTo>
                  <a:lnTo>
                    <a:pt x="3817918" y="0"/>
                  </a:lnTo>
                  <a:lnTo>
                    <a:pt x="3817918" y="2421840"/>
                  </a:lnTo>
                  <a:lnTo>
                    <a:pt x="0" y="2421840"/>
                  </a:lnTo>
                  <a:close/>
                </a:path>
              </a:pathLst>
            </a:custGeom>
            <a:solidFill>
              <a:srgbClr val="FFFFFF"/>
            </a:solidFill>
            <a:ln w="9525" cap="sq">
              <a:solidFill>
                <a:srgbClr val="000000"/>
              </a:solidFill>
              <a:prstDash val="solid"/>
              <a:miter/>
            </a:ln>
          </p:spPr>
        </p:sp>
        <p:sp>
          <p:nvSpPr>
            <p:cNvPr name="TextBox 4" id="4"/>
            <p:cNvSpPr txBox="true"/>
            <p:nvPr/>
          </p:nvSpPr>
          <p:spPr>
            <a:xfrm>
              <a:off x="0" y="-47625"/>
              <a:ext cx="3817918" cy="2469465"/>
            </a:xfrm>
            <a:prstGeom prst="rect">
              <a:avLst/>
            </a:prstGeom>
          </p:spPr>
          <p:txBody>
            <a:bodyPr anchor="ctr" rtlCol="false" tIns="50800" lIns="50800" bIns="50800" rIns="50800"/>
            <a:lstStyle/>
            <a:p>
              <a:pPr algn="ctr">
                <a:lnSpc>
                  <a:spcPts val="3499"/>
                </a:lnSpc>
              </a:pPr>
            </a:p>
          </p:txBody>
        </p:sp>
      </p:grpSp>
      <p:sp>
        <p:nvSpPr>
          <p:cNvPr name="Freeform 5" id="5"/>
          <p:cNvSpPr/>
          <p:nvPr/>
        </p:nvSpPr>
        <p:spPr>
          <a:xfrm flipH="false" flipV="false" rot="-1934702">
            <a:off x="-725252" y="-250483"/>
            <a:ext cx="5211797" cy="3621355"/>
          </a:xfrm>
          <a:custGeom>
            <a:avLst/>
            <a:gdLst/>
            <a:ahLst/>
            <a:cxnLst/>
            <a:rect r="r" b="b" t="t" l="l"/>
            <a:pathLst>
              <a:path h="3621355" w="5211797">
                <a:moveTo>
                  <a:pt x="0" y="0"/>
                </a:moveTo>
                <a:lnTo>
                  <a:pt x="5211798" y="0"/>
                </a:lnTo>
                <a:lnTo>
                  <a:pt x="5211798" y="3621356"/>
                </a:lnTo>
                <a:lnTo>
                  <a:pt x="0" y="36213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259300" y="9220200"/>
            <a:ext cx="152400" cy="190500"/>
          </a:xfrm>
          <a:prstGeom prst="rect">
            <a:avLst/>
          </a:prstGeom>
        </p:spPr>
        <p:txBody>
          <a:bodyPr anchor="t" rtlCol="false" tIns="0" lIns="0" bIns="0" rIns="0" wrap="none">
            <a:spAutoFit/>
          </a:bodyPr>
          <a:lstStyle/>
          <a:p>
            <a:pPr algn="ctr">
              <a:lnSpc>
                <a:spcPts val="2940"/>
              </a:lnSpc>
              <a:spcBef>
                <a:spcPct val="0"/>
              </a:spcBef>
            </a:pPr>
            <a:r>
              <a:rPr lang="en-US" b="true" sz="2100">
                <a:solidFill>
                  <a:srgbClr val="000000"/>
                </a:solidFill>
                <a:latin typeface="Canva Sans Bold"/>
                <a:ea typeface="Canva Sans Bold"/>
                <a:cs typeface="Canva Sans Bold"/>
                <a:sym typeface="Canva Sans Bold"/>
              </a:rPr>
              <a:t>7</a:t>
            </a:r>
          </a:p>
        </p:txBody>
      </p:sp>
      <p:sp>
        <p:nvSpPr>
          <p:cNvPr name="Freeform 7" id="7"/>
          <p:cNvSpPr/>
          <p:nvPr/>
        </p:nvSpPr>
        <p:spPr>
          <a:xfrm flipH="false" flipV="false" rot="8686839">
            <a:off x="14105523" y="6796489"/>
            <a:ext cx="5211797" cy="3621355"/>
          </a:xfrm>
          <a:custGeom>
            <a:avLst/>
            <a:gdLst/>
            <a:ahLst/>
            <a:cxnLst/>
            <a:rect r="r" b="b" t="t" l="l"/>
            <a:pathLst>
              <a:path h="3621355" w="5211797">
                <a:moveTo>
                  <a:pt x="0" y="0"/>
                </a:moveTo>
                <a:lnTo>
                  <a:pt x="5211797" y="0"/>
                </a:lnTo>
                <a:lnTo>
                  <a:pt x="5211797" y="3621355"/>
                </a:lnTo>
                <a:lnTo>
                  <a:pt x="0" y="36213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4455939" y="4416585"/>
            <a:ext cx="594781" cy="574322"/>
            <a:chOff x="0" y="0"/>
            <a:chExt cx="793041" cy="765763"/>
          </a:xfrm>
        </p:grpSpPr>
        <p:grpSp>
          <p:nvGrpSpPr>
            <p:cNvPr name="Group 9" id="9"/>
            <p:cNvGrpSpPr/>
            <p:nvPr/>
          </p:nvGrpSpPr>
          <p:grpSpPr>
            <a:xfrm rot="0">
              <a:off x="0" y="0"/>
              <a:ext cx="793041" cy="765763"/>
              <a:chOff x="0" y="0"/>
              <a:chExt cx="900098" cy="869138"/>
            </a:xfrm>
          </p:grpSpPr>
          <p:sp>
            <p:nvSpPr>
              <p:cNvPr name="Freeform 10" id="10"/>
              <p:cNvSpPr/>
              <p:nvPr/>
            </p:nvSpPr>
            <p:spPr>
              <a:xfrm flipH="false" flipV="false" rot="0">
                <a:off x="0" y="0"/>
                <a:ext cx="900098" cy="869138"/>
              </a:xfrm>
              <a:custGeom>
                <a:avLst/>
                <a:gdLst/>
                <a:ahLst/>
                <a:cxnLst/>
                <a:rect r="r" b="b" t="t" l="l"/>
                <a:pathLst>
                  <a:path h="869138" w="900098">
                    <a:moveTo>
                      <a:pt x="450049" y="0"/>
                    </a:moveTo>
                    <a:cubicBezTo>
                      <a:pt x="201494" y="0"/>
                      <a:pt x="0" y="194563"/>
                      <a:pt x="0" y="434569"/>
                    </a:cubicBezTo>
                    <a:cubicBezTo>
                      <a:pt x="0" y="674575"/>
                      <a:pt x="201494" y="869138"/>
                      <a:pt x="450049" y="869138"/>
                    </a:cubicBezTo>
                    <a:cubicBezTo>
                      <a:pt x="698604" y="869138"/>
                      <a:pt x="900098" y="674575"/>
                      <a:pt x="900098" y="434569"/>
                    </a:cubicBezTo>
                    <a:cubicBezTo>
                      <a:pt x="900098" y="194563"/>
                      <a:pt x="698604" y="0"/>
                      <a:pt x="450049" y="0"/>
                    </a:cubicBezTo>
                    <a:close/>
                  </a:path>
                </a:pathLst>
              </a:custGeom>
              <a:solidFill>
                <a:srgbClr val="000000"/>
              </a:solidFill>
            </p:spPr>
          </p:sp>
          <p:sp>
            <p:nvSpPr>
              <p:cNvPr name="TextBox 11" id="11"/>
              <p:cNvSpPr txBox="true"/>
              <p:nvPr/>
            </p:nvSpPr>
            <p:spPr>
              <a:xfrm>
                <a:off x="84384" y="-13768"/>
                <a:ext cx="731330" cy="801424"/>
              </a:xfrm>
              <a:prstGeom prst="rect">
                <a:avLst/>
              </a:prstGeom>
            </p:spPr>
            <p:txBody>
              <a:bodyPr anchor="ctr" rtlCol="false" tIns="50800" lIns="50800" bIns="50800" rIns="50800"/>
              <a:lstStyle/>
              <a:p>
                <a:pPr algn="ctr">
                  <a:lnSpc>
                    <a:spcPts val="3219"/>
                  </a:lnSpc>
                </a:pPr>
              </a:p>
            </p:txBody>
          </p:sp>
        </p:grpSp>
        <p:sp>
          <p:nvSpPr>
            <p:cNvPr name="TextBox 12" id="12"/>
            <p:cNvSpPr txBox="true"/>
            <p:nvPr/>
          </p:nvSpPr>
          <p:spPr>
            <a:xfrm rot="0">
              <a:off x="197839" y="-54"/>
              <a:ext cx="397364" cy="589920"/>
            </a:xfrm>
            <a:prstGeom prst="rect">
              <a:avLst/>
            </a:prstGeom>
          </p:spPr>
          <p:txBody>
            <a:bodyPr anchor="t" rtlCol="false" tIns="0" lIns="0" bIns="0" rIns="0">
              <a:spAutoFit/>
            </a:bodyPr>
            <a:lstStyle/>
            <a:p>
              <a:pPr algn="ctr">
                <a:lnSpc>
                  <a:spcPts val="3701"/>
                </a:lnSpc>
              </a:pPr>
              <a:r>
                <a:rPr lang="en-US" sz="2643">
                  <a:solidFill>
                    <a:srgbClr val="FFFFFF"/>
                  </a:solidFill>
                  <a:latin typeface="Open Sans"/>
                  <a:ea typeface="Open Sans"/>
                  <a:cs typeface="Open Sans"/>
                  <a:sym typeface="Open Sans"/>
                </a:rPr>
                <a:t>IV</a:t>
              </a:r>
            </a:p>
          </p:txBody>
        </p:sp>
      </p:grpSp>
      <p:sp>
        <p:nvSpPr>
          <p:cNvPr name="TextBox 13" id="13"/>
          <p:cNvSpPr txBox="true"/>
          <p:nvPr/>
        </p:nvSpPr>
        <p:spPr>
          <a:xfrm rot="0">
            <a:off x="5298548" y="1896587"/>
            <a:ext cx="7581818" cy="481331"/>
          </a:xfrm>
          <a:prstGeom prst="rect">
            <a:avLst/>
          </a:prstGeom>
        </p:spPr>
        <p:txBody>
          <a:bodyPr anchor="t" rtlCol="false" tIns="0" lIns="0" bIns="0" rIns="0">
            <a:spAutoFit/>
          </a:bodyPr>
          <a:lstStyle/>
          <a:p>
            <a:pPr algn="l">
              <a:lnSpc>
                <a:spcPts val="3919"/>
              </a:lnSpc>
            </a:pPr>
            <a:r>
              <a:rPr lang="en-US" sz="2799" b="true">
                <a:solidFill>
                  <a:srgbClr val="000000"/>
                </a:solidFill>
                <a:latin typeface="Canva Sans Bold"/>
                <a:ea typeface="Canva Sans Bold"/>
                <a:cs typeface="Canva Sans Bold"/>
                <a:sym typeface="Canva Sans Bold"/>
              </a:rPr>
              <a:t>DÉMONSTRATION DE L’API EN DIRECT</a:t>
            </a:r>
          </a:p>
        </p:txBody>
      </p:sp>
      <p:sp>
        <p:nvSpPr>
          <p:cNvPr name="TextBox 14" id="14"/>
          <p:cNvSpPr txBox="true"/>
          <p:nvPr/>
        </p:nvSpPr>
        <p:spPr>
          <a:xfrm rot="0">
            <a:off x="5298548" y="3195852"/>
            <a:ext cx="10374492" cy="481331"/>
          </a:xfrm>
          <a:prstGeom prst="rect">
            <a:avLst/>
          </a:prstGeom>
        </p:spPr>
        <p:txBody>
          <a:bodyPr anchor="t" rtlCol="false" tIns="0" lIns="0" bIns="0" rIns="0">
            <a:spAutoFit/>
          </a:bodyPr>
          <a:lstStyle/>
          <a:p>
            <a:pPr algn="l">
              <a:lnSpc>
                <a:spcPts val="3919"/>
              </a:lnSpc>
            </a:pPr>
            <a:r>
              <a:rPr lang="en-US" sz="2799" b="true">
                <a:solidFill>
                  <a:srgbClr val="000000"/>
                </a:solidFill>
                <a:latin typeface="Canva Sans Bold"/>
                <a:ea typeface="Canva Sans Bold"/>
                <a:cs typeface="Canva Sans Bold"/>
                <a:sym typeface="Canva Sans Bold"/>
              </a:rPr>
              <a:t>PRÉSENTATION DU RAPPORT TECHNIQUE ET RÉSULTATS</a:t>
            </a:r>
          </a:p>
        </p:txBody>
      </p:sp>
      <p:sp>
        <p:nvSpPr>
          <p:cNvPr name="TextBox 15" id="15"/>
          <p:cNvSpPr txBox="true"/>
          <p:nvPr/>
        </p:nvSpPr>
        <p:spPr>
          <a:xfrm rot="0">
            <a:off x="5249661" y="4452427"/>
            <a:ext cx="8327011" cy="481331"/>
          </a:xfrm>
          <a:prstGeom prst="rect">
            <a:avLst/>
          </a:prstGeom>
        </p:spPr>
        <p:txBody>
          <a:bodyPr anchor="t" rtlCol="false" tIns="0" lIns="0" bIns="0" rIns="0">
            <a:spAutoFit/>
          </a:bodyPr>
          <a:lstStyle/>
          <a:p>
            <a:pPr algn="l">
              <a:lnSpc>
                <a:spcPts val="3919"/>
              </a:lnSpc>
            </a:pPr>
            <a:r>
              <a:rPr lang="en-US" sz="2799" b="true">
                <a:solidFill>
                  <a:srgbClr val="000000"/>
                </a:solidFill>
                <a:latin typeface="Canva Sans Bold"/>
                <a:ea typeface="Canva Sans Bold"/>
                <a:cs typeface="Canva Sans Bold"/>
                <a:sym typeface="Canva Sans Bold"/>
              </a:rPr>
              <a:t>PARCOURS DE LA STRUCTURE DU DÉPOT GIT</a:t>
            </a:r>
          </a:p>
        </p:txBody>
      </p:sp>
      <p:grpSp>
        <p:nvGrpSpPr>
          <p:cNvPr name="Group 16" id="16"/>
          <p:cNvGrpSpPr/>
          <p:nvPr/>
        </p:nvGrpSpPr>
        <p:grpSpPr>
          <a:xfrm rot="0">
            <a:off x="4455939" y="3146938"/>
            <a:ext cx="594781" cy="574322"/>
            <a:chOff x="0" y="0"/>
            <a:chExt cx="793041" cy="765763"/>
          </a:xfrm>
        </p:grpSpPr>
        <p:grpSp>
          <p:nvGrpSpPr>
            <p:cNvPr name="Group 17" id="17"/>
            <p:cNvGrpSpPr/>
            <p:nvPr/>
          </p:nvGrpSpPr>
          <p:grpSpPr>
            <a:xfrm rot="0">
              <a:off x="0" y="0"/>
              <a:ext cx="793041" cy="765763"/>
              <a:chOff x="0" y="0"/>
              <a:chExt cx="900098" cy="869138"/>
            </a:xfrm>
          </p:grpSpPr>
          <p:sp>
            <p:nvSpPr>
              <p:cNvPr name="Freeform 18" id="18"/>
              <p:cNvSpPr/>
              <p:nvPr/>
            </p:nvSpPr>
            <p:spPr>
              <a:xfrm flipH="false" flipV="false" rot="0">
                <a:off x="0" y="0"/>
                <a:ext cx="900098" cy="869138"/>
              </a:xfrm>
              <a:custGeom>
                <a:avLst/>
                <a:gdLst/>
                <a:ahLst/>
                <a:cxnLst/>
                <a:rect r="r" b="b" t="t" l="l"/>
                <a:pathLst>
                  <a:path h="869138" w="900098">
                    <a:moveTo>
                      <a:pt x="450049" y="0"/>
                    </a:moveTo>
                    <a:cubicBezTo>
                      <a:pt x="201494" y="0"/>
                      <a:pt x="0" y="194563"/>
                      <a:pt x="0" y="434569"/>
                    </a:cubicBezTo>
                    <a:cubicBezTo>
                      <a:pt x="0" y="674575"/>
                      <a:pt x="201494" y="869138"/>
                      <a:pt x="450049" y="869138"/>
                    </a:cubicBezTo>
                    <a:cubicBezTo>
                      <a:pt x="698604" y="869138"/>
                      <a:pt x="900098" y="674575"/>
                      <a:pt x="900098" y="434569"/>
                    </a:cubicBezTo>
                    <a:cubicBezTo>
                      <a:pt x="900098" y="194563"/>
                      <a:pt x="698604" y="0"/>
                      <a:pt x="450049" y="0"/>
                    </a:cubicBezTo>
                    <a:close/>
                  </a:path>
                </a:pathLst>
              </a:custGeom>
              <a:solidFill>
                <a:srgbClr val="000000"/>
              </a:solidFill>
            </p:spPr>
          </p:sp>
          <p:sp>
            <p:nvSpPr>
              <p:cNvPr name="TextBox 19" id="19"/>
              <p:cNvSpPr txBox="true"/>
              <p:nvPr/>
            </p:nvSpPr>
            <p:spPr>
              <a:xfrm>
                <a:off x="84384" y="-13768"/>
                <a:ext cx="731330" cy="801424"/>
              </a:xfrm>
              <a:prstGeom prst="rect">
                <a:avLst/>
              </a:prstGeom>
            </p:spPr>
            <p:txBody>
              <a:bodyPr anchor="ctr" rtlCol="false" tIns="50800" lIns="50800" bIns="50800" rIns="50800"/>
              <a:lstStyle/>
              <a:p>
                <a:pPr algn="ctr">
                  <a:lnSpc>
                    <a:spcPts val="3219"/>
                  </a:lnSpc>
                </a:pPr>
              </a:p>
            </p:txBody>
          </p:sp>
        </p:grpSp>
        <p:sp>
          <p:nvSpPr>
            <p:cNvPr name="TextBox 20" id="20"/>
            <p:cNvSpPr txBox="true"/>
            <p:nvPr/>
          </p:nvSpPr>
          <p:spPr>
            <a:xfrm rot="0">
              <a:off x="197839" y="-54"/>
              <a:ext cx="397364" cy="589920"/>
            </a:xfrm>
            <a:prstGeom prst="rect">
              <a:avLst/>
            </a:prstGeom>
          </p:spPr>
          <p:txBody>
            <a:bodyPr anchor="t" rtlCol="false" tIns="0" lIns="0" bIns="0" rIns="0">
              <a:spAutoFit/>
            </a:bodyPr>
            <a:lstStyle/>
            <a:p>
              <a:pPr algn="ctr">
                <a:lnSpc>
                  <a:spcPts val="3701"/>
                </a:lnSpc>
              </a:pPr>
              <a:r>
                <a:rPr lang="en-US" sz="2643">
                  <a:solidFill>
                    <a:srgbClr val="FFFFFF"/>
                  </a:solidFill>
                  <a:latin typeface="Open Sans"/>
                  <a:ea typeface="Open Sans"/>
                  <a:cs typeface="Open Sans"/>
                  <a:sym typeface="Open Sans"/>
                </a:rPr>
                <a:t>III</a:t>
              </a:r>
            </a:p>
          </p:txBody>
        </p:sp>
      </p:grpSp>
      <p:grpSp>
        <p:nvGrpSpPr>
          <p:cNvPr name="Group 21" id="21"/>
          <p:cNvGrpSpPr/>
          <p:nvPr/>
        </p:nvGrpSpPr>
        <p:grpSpPr>
          <a:xfrm rot="0">
            <a:off x="4455939" y="1878826"/>
            <a:ext cx="594781" cy="574322"/>
            <a:chOff x="0" y="0"/>
            <a:chExt cx="793041" cy="765763"/>
          </a:xfrm>
        </p:grpSpPr>
        <p:grpSp>
          <p:nvGrpSpPr>
            <p:cNvPr name="Group 22" id="22"/>
            <p:cNvGrpSpPr/>
            <p:nvPr/>
          </p:nvGrpSpPr>
          <p:grpSpPr>
            <a:xfrm rot="0">
              <a:off x="0" y="0"/>
              <a:ext cx="793041" cy="765763"/>
              <a:chOff x="0" y="0"/>
              <a:chExt cx="900098" cy="869138"/>
            </a:xfrm>
          </p:grpSpPr>
          <p:sp>
            <p:nvSpPr>
              <p:cNvPr name="Freeform 23" id="23"/>
              <p:cNvSpPr/>
              <p:nvPr/>
            </p:nvSpPr>
            <p:spPr>
              <a:xfrm flipH="false" flipV="false" rot="0">
                <a:off x="0" y="0"/>
                <a:ext cx="900098" cy="869138"/>
              </a:xfrm>
              <a:custGeom>
                <a:avLst/>
                <a:gdLst/>
                <a:ahLst/>
                <a:cxnLst/>
                <a:rect r="r" b="b" t="t" l="l"/>
                <a:pathLst>
                  <a:path h="869138" w="900098">
                    <a:moveTo>
                      <a:pt x="450049" y="0"/>
                    </a:moveTo>
                    <a:cubicBezTo>
                      <a:pt x="201494" y="0"/>
                      <a:pt x="0" y="194563"/>
                      <a:pt x="0" y="434569"/>
                    </a:cubicBezTo>
                    <a:cubicBezTo>
                      <a:pt x="0" y="674575"/>
                      <a:pt x="201494" y="869138"/>
                      <a:pt x="450049" y="869138"/>
                    </a:cubicBezTo>
                    <a:cubicBezTo>
                      <a:pt x="698604" y="869138"/>
                      <a:pt x="900098" y="674575"/>
                      <a:pt x="900098" y="434569"/>
                    </a:cubicBezTo>
                    <a:cubicBezTo>
                      <a:pt x="900098" y="194563"/>
                      <a:pt x="698604" y="0"/>
                      <a:pt x="450049" y="0"/>
                    </a:cubicBezTo>
                    <a:close/>
                  </a:path>
                </a:pathLst>
              </a:custGeom>
              <a:solidFill>
                <a:srgbClr val="000000"/>
              </a:solidFill>
            </p:spPr>
          </p:sp>
          <p:sp>
            <p:nvSpPr>
              <p:cNvPr name="TextBox 24" id="24"/>
              <p:cNvSpPr txBox="true"/>
              <p:nvPr/>
            </p:nvSpPr>
            <p:spPr>
              <a:xfrm>
                <a:off x="84384" y="-13768"/>
                <a:ext cx="731330" cy="801424"/>
              </a:xfrm>
              <a:prstGeom prst="rect">
                <a:avLst/>
              </a:prstGeom>
            </p:spPr>
            <p:txBody>
              <a:bodyPr anchor="ctr" rtlCol="false" tIns="50800" lIns="50800" bIns="50800" rIns="50800"/>
              <a:lstStyle/>
              <a:p>
                <a:pPr algn="ctr">
                  <a:lnSpc>
                    <a:spcPts val="3219"/>
                  </a:lnSpc>
                </a:pPr>
              </a:p>
            </p:txBody>
          </p:sp>
        </p:grpSp>
        <p:sp>
          <p:nvSpPr>
            <p:cNvPr name="TextBox 25" id="25"/>
            <p:cNvSpPr txBox="true"/>
            <p:nvPr/>
          </p:nvSpPr>
          <p:spPr>
            <a:xfrm rot="0">
              <a:off x="197839" y="-54"/>
              <a:ext cx="397364" cy="589920"/>
            </a:xfrm>
            <a:prstGeom prst="rect">
              <a:avLst/>
            </a:prstGeom>
          </p:spPr>
          <p:txBody>
            <a:bodyPr anchor="t" rtlCol="false" tIns="0" lIns="0" bIns="0" rIns="0">
              <a:spAutoFit/>
            </a:bodyPr>
            <a:lstStyle/>
            <a:p>
              <a:pPr algn="ctr">
                <a:lnSpc>
                  <a:spcPts val="3701"/>
                </a:lnSpc>
              </a:pPr>
              <a:r>
                <a:rPr lang="en-US" sz="2643">
                  <a:solidFill>
                    <a:srgbClr val="FFFFFF"/>
                  </a:solidFill>
                  <a:latin typeface="Open Sans"/>
                  <a:ea typeface="Open Sans"/>
                  <a:cs typeface="Open Sans"/>
                  <a:sym typeface="Open Sans"/>
                </a:rPr>
                <a:t>II</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CF7"/>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alphaModFix amt="25000"/>
          </a:blip>
          <a:srcRect l="0" t="0" r="0" b="0"/>
          <a:stretch>
            <a:fillRect/>
          </a:stretch>
        </p:blipFill>
        <p:spPr>
          <a:xfrm flipH="false" flipV="false" rot="0">
            <a:off x="-1662681" y="-6438340"/>
            <a:ext cx="13761077" cy="14153590"/>
          </a:xfrm>
          <a:prstGeom prst="rect">
            <a:avLst/>
          </a:prstGeom>
        </p:spPr>
      </p:pic>
      <p:grpSp>
        <p:nvGrpSpPr>
          <p:cNvPr name="Group 3" id="3"/>
          <p:cNvGrpSpPr/>
          <p:nvPr/>
        </p:nvGrpSpPr>
        <p:grpSpPr>
          <a:xfrm rot="0">
            <a:off x="4911263" y="4219178"/>
            <a:ext cx="8465475" cy="1848644"/>
            <a:chOff x="0" y="0"/>
            <a:chExt cx="11287299" cy="2464859"/>
          </a:xfrm>
        </p:grpSpPr>
        <p:sp>
          <p:nvSpPr>
            <p:cNvPr name="TextBox 4" id="4"/>
            <p:cNvSpPr txBox="true"/>
            <p:nvPr/>
          </p:nvSpPr>
          <p:spPr>
            <a:xfrm rot="0">
              <a:off x="0" y="-190500"/>
              <a:ext cx="11287299" cy="1600200"/>
            </a:xfrm>
            <a:prstGeom prst="rect">
              <a:avLst/>
            </a:prstGeom>
          </p:spPr>
          <p:txBody>
            <a:bodyPr anchor="t" rtlCol="false" tIns="0" lIns="0" bIns="0" rIns="0">
              <a:spAutoFit/>
            </a:bodyPr>
            <a:lstStyle/>
            <a:p>
              <a:pPr algn="ctr" marL="0" indent="0" lvl="0">
                <a:lnSpc>
                  <a:spcPts val="8399"/>
                </a:lnSpc>
                <a:spcBef>
                  <a:spcPct val="0"/>
                </a:spcBef>
              </a:pPr>
              <a:r>
                <a:rPr lang="en-US" sz="6999" u="none">
                  <a:solidFill>
                    <a:srgbClr val="2B2B2B"/>
                  </a:solidFill>
                  <a:latin typeface="Agrandir"/>
                  <a:ea typeface="Agrandir"/>
                  <a:cs typeface="Agrandir"/>
                  <a:sym typeface="Agrandir"/>
                </a:rPr>
                <a:t>Thank you!</a:t>
              </a:r>
            </a:p>
          </p:txBody>
        </p:sp>
        <p:sp>
          <p:nvSpPr>
            <p:cNvPr name="TextBox 5" id="5"/>
            <p:cNvSpPr txBox="true"/>
            <p:nvPr/>
          </p:nvSpPr>
          <p:spPr>
            <a:xfrm rot="0">
              <a:off x="0" y="1819487"/>
              <a:ext cx="11287299" cy="645371"/>
            </a:xfrm>
            <a:prstGeom prst="rect">
              <a:avLst/>
            </a:prstGeom>
          </p:spPr>
          <p:txBody>
            <a:bodyPr anchor="t" rtlCol="false" tIns="0" lIns="0" bIns="0" rIns="0">
              <a:spAutoFit/>
            </a:bodyPr>
            <a:lstStyle/>
            <a:p>
              <a:pPr algn="ctr" marL="0" indent="0" lvl="0">
                <a:lnSpc>
                  <a:spcPts val="3640"/>
                </a:lnSpc>
              </a:pPr>
            </a:p>
          </p:txBody>
        </p:sp>
      </p:grpSp>
      <p:pic>
        <p:nvPicPr>
          <p:cNvPr name="Picture 6" id="6"/>
          <p:cNvPicPr>
            <a:picLocks noChangeAspect="true"/>
          </p:cNvPicPr>
          <p:nvPr/>
        </p:nvPicPr>
        <p:blipFill>
          <a:blip r:embed="rId3">
            <a:alphaModFix amt="25000"/>
          </a:blip>
          <a:srcRect l="0" t="0" r="0" b="0"/>
          <a:stretch>
            <a:fillRect/>
          </a:stretch>
        </p:blipFill>
        <p:spPr>
          <a:xfrm flipH="false" flipV="false" rot="0">
            <a:off x="11511932" y="6947324"/>
            <a:ext cx="8674222" cy="7652259"/>
          </a:xfrm>
          <a:prstGeom prst="rect">
            <a:avLst/>
          </a:prstGeom>
        </p:spPr>
      </p:pic>
      <p:pic>
        <p:nvPicPr>
          <p:cNvPr name="Picture 7" id="7"/>
          <p:cNvPicPr>
            <a:picLocks noChangeAspect="true"/>
          </p:cNvPicPr>
          <p:nvPr/>
        </p:nvPicPr>
        <p:blipFill>
          <a:blip r:embed="rId4">
            <a:alphaModFix amt="25000"/>
          </a:blip>
          <a:srcRect l="0" t="0" r="0" b="0"/>
          <a:stretch>
            <a:fillRect/>
          </a:stretch>
        </p:blipFill>
        <p:spPr>
          <a:xfrm flipH="false" flipV="false" rot="0">
            <a:off x="15141061" y="2810706"/>
            <a:ext cx="6293877" cy="5612932"/>
          </a:xfrm>
          <a:prstGeom prst="rect">
            <a:avLst/>
          </a:prstGeom>
        </p:spPr>
      </p:pic>
      <p:pic>
        <p:nvPicPr>
          <p:cNvPr name="Picture 8" id="8"/>
          <p:cNvPicPr>
            <a:picLocks noChangeAspect="true"/>
          </p:cNvPicPr>
          <p:nvPr/>
        </p:nvPicPr>
        <p:blipFill>
          <a:blip r:embed="rId5">
            <a:alphaModFix amt="25000"/>
          </a:blip>
          <a:srcRect l="0" t="0" r="0" b="0"/>
          <a:stretch>
            <a:fillRect/>
          </a:stretch>
        </p:blipFill>
        <p:spPr>
          <a:xfrm flipH="false" flipV="false" rot="-3435299">
            <a:off x="-3167656" y="638455"/>
            <a:ext cx="6335313" cy="7076795"/>
          </a:xfrm>
          <a:prstGeom prst="rect">
            <a:avLst/>
          </a:prstGeom>
        </p:spPr>
      </p:pic>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2B2B2B"/>
                </a:solidFill>
                <a:latin typeface="Canva Sans"/>
                <a:ea typeface="Canva Sans"/>
                <a:cs typeface="Canva Sans"/>
                <a:sym typeface="Canva Sans"/>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DAG45kyBZ_E</dc:identifier>
  <dcterms:modified xsi:type="dcterms:W3CDTF">2011-08-01T06:04:30Z</dcterms:modified>
  <cp:revision>1</cp:revision>
  <dc:title>Copy of Copy of Copy of Fonkou_Symphor_3_présentation_052025</dc:title>
</cp:coreProperties>
</file>